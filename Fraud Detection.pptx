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60" r:id="rId1"/>
  </p:sldMasterIdLst>
  <p:notesMasterIdLst>
    <p:notesMasterId r:id="rId24"/>
  </p:notesMasterIdLst>
  <p:sldIdLst>
    <p:sldId id="256" r:id="rId2"/>
    <p:sldId id="714" r:id="rId3"/>
    <p:sldId id="715" r:id="rId4"/>
    <p:sldId id="674" r:id="rId5"/>
    <p:sldId id="716" r:id="rId6"/>
    <p:sldId id="723" r:id="rId7"/>
    <p:sldId id="724" r:id="rId8"/>
    <p:sldId id="713" r:id="rId9"/>
    <p:sldId id="725" r:id="rId10"/>
    <p:sldId id="712" r:id="rId11"/>
    <p:sldId id="676" r:id="rId12"/>
    <p:sldId id="717" r:id="rId13"/>
    <p:sldId id="718" r:id="rId14"/>
    <p:sldId id="719" r:id="rId15"/>
    <p:sldId id="722" r:id="rId16"/>
    <p:sldId id="721" r:id="rId17"/>
    <p:sldId id="727" r:id="rId18"/>
    <p:sldId id="726" r:id="rId19"/>
    <p:sldId id="720" r:id="rId20"/>
    <p:sldId id="728" r:id="rId21"/>
    <p:sldId id="711" r:id="rId22"/>
    <p:sldId id="30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1B58"/>
    <a:srgbClr val="333F50"/>
    <a:srgbClr val="8497B0"/>
    <a:srgbClr val="8FAADC"/>
    <a:srgbClr val="2F5597"/>
    <a:srgbClr val="626CC7"/>
    <a:srgbClr val="323B8D"/>
    <a:srgbClr val="21275D"/>
    <a:srgbClr val="161A3E"/>
    <a:srgbClr val="2038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CA8346-09F0-4301-B585-28E9403048AB}" v="218" dt="2023-11-21T11:40:02.7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71" autoAdjust="0"/>
    <p:restoredTop sz="93447" autoAdjust="0"/>
  </p:normalViewPr>
  <p:slideViewPr>
    <p:cSldViewPr snapToGrid="0">
      <p:cViewPr varScale="1">
        <p:scale>
          <a:sx n="104" d="100"/>
          <a:sy n="104" d="100"/>
        </p:scale>
        <p:origin x="738" y="108"/>
      </p:cViewPr>
      <p:guideLst/>
    </p:cSldViewPr>
  </p:slideViewPr>
  <p:notesTextViewPr>
    <p:cViewPr>
      <p:scale>
        <a:sx n="75" d="100"/>
        <a:sy n="7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0077D8-B575-4753-B8FD-F5736649C91E}" type="datetimeFigureOut">
              <a:rPr lang="en-IN" smtClean="0"/>
              <a:t>23-03-2026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FFB008-8E38-46F5-BCB9-8CFEF233CF3A}" type="slidenum">
              <a:rPr lang="en-IN" smtClean="0"/>
              <a:t>‹#›</a:t>
            </a:fld>
            <a:endParaRPr lang="en-IN" dirty="0"/>
          </a:p>
        </p:txBody>
      </p:sp>
    </p:spTree>
    <p:extLst>
      <p:ext uri="{BB962C8B-B14F-4D97-AF65-F5344CB8AC3E}">
        <p14:creationId xmlns:p14="http://schemas.microsoft.com/office/powerpoint/2010/main" val="4034188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FFB008-8E38-46F5-BCB9-8CFEF233CF3A}" type="slidenum">
              <a:rPr lang="en-IN" smtClean="0"/>
              <a:t>3</a:t>
            </a:fld>
            <a:endParaRPr lang="en-IN" dirty="0"/>
          </a:p>
        </p:txBody>
      </p:sp>
    </p:spTree>
    <p:extLst>
      <p:ext uri="{BB962C8B-B14F-4D97-AF65-F5344CB8AC3E}">
        <p14:creationId xmlns:p14="http://schemas.microsoft.com/office/powerpoint/2010/main" val="10007601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7FFB008-8E38-46F5-BCB9-8CFEF233CF3A}" type="slidenum">
              <a:rPr lang="en-IN" smtClean="0"/>
              <a:t>11</a:t>
            </a:fld>
            <a:endParaRPr lang="en-IN" dirty="0"/>
          </a:p>
        </p:txBody>
      </p:sp>
    </p:spTree>
    <p:extLst>
      <p:ext uri="{BB962C8B-B14F-4D97-AF65-F5344CB8AC3E}">
        <p14:creationId xmlns:p14="http://schemas.microsoft.com/office/powerpoint/2010/main" val="179788368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1D4C31DA-14CA-CFBA-5089-9BCD0585380D}"/>
              </a:ext>
            </a:extLst>
          </p:cNvPr>
          <p:cNvGrpSpPr/>
          <p:nvPr userDrawn="1"/>
        </p:nvGrpSpPr>
        <p:grpSpPr>
          <a:xfrm>
            <a:off x="-21770" y="0"/>
            <a:ext cx="12213771" cy="6858000"/>
            <a:chOff x="-21770" y="0"/>
            <a:chExt cx="12213771" cy="6858000"/>
          </a:xfrm>
        </p:grpSpPr>
        <p:pic>
          <p:nvPicPr>
            <p:cNvPr id="6" name="Picture 5" descr="Tech Background&quot; Images – Browse 8,227 Stock Photos, Vectors, and Video |  Adobe Stock">
              <a:extLst>
                <a:ext uri="{FF2B5EF4-FFF2-40B4-BE49-F238E27FC236}">
                  <a16:creationId xmlns:a16="http://schemas.microsoft.com/office/drawing/2014/main" id="{912EDB8F-0820-57F6-5CDA-EEB6AC9EF35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97530BAD-0593-FBF1-1D42-9B727191475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017794" y="913775"/>
              <a:ext cx="5159490" cy="1423752"/>
            </a:xfrm>
            <a:prstGeom prst="rect">
              <a:avLst/>
            </a:prstGeom>
          </p:spPr>
        </p:pic>
      </p:grpSp>
    </p:spTree>
    <p:extLst>
      <p:ext uri="{BB962C8B-B14F-4D97-AF65-F5344CB8AC3E}">
        <p14:creationId xmlns:p14="http://schemas.microsoft.com/office/powerpoint/2010/main" val="133112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Content Placeholder 2"/>
          <p:cNvSpPr>
            <a:spLocks noGrp="1"/>
          </p:cNvSpPr>
          <p:nvPr>
            <p:ph idx="1"/>
          </p:nvPr>
        </p:nvSpPr>
        <p:spPr>
          <a:xfrm>
            <a:off x="678884" y="1675075"/>
            <a:ext cx="1083423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26523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Thir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55269" y="603666"/>
            <a:ext cx="7057847" cy="5454235"/>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2" name="Title 1"/>
          <p:cNvSpPr>
            <a:spLocks noGrp="1"/>
          </p:cNvSpPr>
          <p:nvPr>
            <p:ph type="title"/>
          </p:nvPr>
        </p:nvSpPr>
        <p:spPr>
          <a:xfrm>
            <a:off x="838202" y="2049670"/>
            <a:ext cx="2743200" cy="2562226"/>
          </a:xfrm>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361238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7055274"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7055274"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8077201" y="0"/>
            <a:ext cx="41148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7" name="Picture 6">
            <a:extLst>
              <a:ext uri="{FF2B5EF4-FFF2-40B4-BE49-F238E27FC236}">
                <a16:creationId xmlns:a16="http://schemas.microsoft.com/office/drawing/2014/main" id="{F13DF77B-C435-B418-C899-54652105D0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401356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Half &amp; Half">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5107239" cy="612775"/>
          </a:xfrm>
        </p:spPr>
        <p:txBody>
          <a:bodyPr/>
          <a:lstStyle/>
          <a:p>
            <a:r>
              <a:rPr lang="en-US" dirty="0"/>
              <a:t>Click to edit Master title style</a:t>
            </a:r>
          </a:p>
        </p:txBody>
      </p:sp>
      <p:sp>
        <p:nvSpPr>
          <p:cNvPr id="3" name="Content Placeholder 2"/>
          <p:cNvSpPr>
            <a:spLocks noGrp="1"/>
          </p:cNvSpPr>
          <p:nvPr>
            <p:ph idx="1"/>
          </p:nvPr>
        </p:nvSpPr>
        <p:spPr>
          <a:xfrm>
            <a:off x="678881" y="1659836"/>
            <a:ext cx="5107239"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5">
            <a:extLst>
              <a:ext uri="{FF2B5EF4-FFF2-40B4-BE49-F238E27FC236}">
                <a16:creationId xmlns:a16="http://schemas.microsoft.com/office/drawing/2014/main" id="{360409B4-C617-2A18-6BFD-309E9F59F1A6}"/>
              </a:ext>
            </a:extLst>
          </p:cNvPr>
          <p:cNvSpPr/>
          <p:nvPr userDrawn="1"/>
        </p:nvSpPr>
        <p:spPr>
          <a:xfrm>
            <a:off x="6096000" y="0"/>
            <a:ext cx="6096000" cy="6858000"/>
          </a:xfrm>
          <a:prstGeom prst="rect">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pic>
        <p:nvPicPr>
          <p:cNvPr id="4" name="Picture 3">
            <a:extLst>
              <a:ext uri="{FF2B5EF4-FFF2-40B4-BE49-F238E27FC236}">
                <a16:creationId xmlns:a16="http://schemas.microsoft.com/office/drawing/2014/main" id="{4258C05D-B60D-14D1-7105-F671923254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1852858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ne Third Flow Errow">
    <p:spTree>
      <p:nvGrpSpPr>
        <p:cNvPr id="1" name=""/>
        <p:cNvGrpSpPr/>
        <p:nvPr/>
      </p:nvGrpSpPr>
      <p:grpSpPr>
        <a:xfrm>
          <a:off x="0" y="0"/>
          <a:ext cx="0" cy="0"/>
          <a:chOff x="0" y="0"/>
          <a:chExt cx="0" cy="0"/>
        </a:xfrm>
      </p:grpSpPr>
      <p:sp>
        <p:nvSpPr>
          <p:cNvPr id="2" name="Title 1"/>
          <p:cNvSpPr>
            <a:spLocks noGrp="1"/>
          </p:cNvSpPr>
          <p:nvPr>
            <p:ph type="title"/>
          </p:nvPr>
        </p:nvSpPr>
        <p:spPr>
          <a:xfrm>
            <a:off x="4455269" y="603666"/>
            <a:ext cx="7057847" cy="612775"/>
          </a:xfrm>
        </p:spPr>
        <p:txBody>
          <a:body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Arrow: Pentagon 5">
            <a:extLst>
              <a:ext uri="{FF2B5EF4-FFF2-40B4-BE49-F238E27FC236}">
                <a16:creationId xmlns:a16="http://schemas.microsoft.com/office/drawing/2014/main" id="{360409B4-C617-2A18-6BFD-309E9F59F1A6}"/>
              </a:ext>
            </a:extLst>
          </p:cNvPr>
          <p:cNvSpPr/>
          <p:nvPr userDrawn="1"/>
        </p:nvSpPr>
        <p:spPr>
          <a:xfrm>
            <a:off x="1" y="0"/>
            <a:ext cx="4114800" cy="6858000"/>
          </a:xfrm>
          <a:prstGeom prst="homePlate">
            <a:avLst>
              <a:gd name="adj" fmla="val 16049"/>
            </a:avLst>
          </a:prstGeom>
          <a:solidFill>
            <a:srgbClr val="1D1B58"/>
          </a:solidFill>
          <a:ln>
            <a:solidFill>
              <a:srgbClr val="1D1B5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800" dirty="0"/>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678882" y="3122614"/>
            <a:ext cx="2978720"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Tree>
    <p:extLst>
      <p:ext uri="{BB962C8B-B14F-4D97-AF65-F5344CB8AC3E}">
        <p14:creationId xmlns:p14="http://schemas.microsoft.com/office/powerpoint/2010/main" val="5999928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_One Thir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38200" y="3122614"/>
            <a:ext cx="2819401"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rgbClr val="1D1B58"/>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BC7368D9-5898-B04D-9CD2-C5A3736BFFA6}"/>
              </a:ext>
            </a:extLst>
          </p:cNvPr>
          <p:cNvSpPr/>
          <p:nvPr userDrawn="1"/>
        </p:nvSpPr>
        <p:spPr>
          <a:xfrm>
            <a:off x="3454417" y="0"/>
            <a:ext cx="8737584" cy="6858000"/>
          </a:xfrm>
          <a:custGeom>
            <a:avLst/>
            <a:gdLst>
              <a:gd name="connsiteX0" fmla="*/ 0 w 9601184"/>
              <a:gd name="connsiteY0" fmla="*/ 0 h 6858000"/>
              <a:gd name="connsiteX1" fmla="*/ 9601184 w 9601184"/>
              <a:gd name="connsiteY1" fmla="*/ 0 h 6858000"/>
              <a:gd name="connsiteX2" fmla="*/ 9601184 w 9601184"/>
              <a:gd name="connsiteY2" fmla="*/ 6858000 h 6858000"/>
              <a:gd name="connsiteX3" fmla="*/ 0 w 9601184"/>
              <a:gd name="connsiteY3" fmla="*/ 6858000 h 6858000"/>
              <a:gd name="connsiteX4" fmla="*/ 660384 w 9601184"/>
              <a:gd name="connsiteY4" fmla="*/ 3429000 h 6858000"/>
              <a:gd name="connsiteX5" fmla="*/ 0 w 9601184"/>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01184" h="6858000">
                <a:moveTo>
                  <a:pt x="0" y="0"/>
                </a:moveTo>
                <a:lnTo>
                  <a:pt x="9601184" y="0"/>
                </a:lnTo>
                <a:lnTo>
                  <a:pt x="9601184" y="6858000"/>
                </a:lnTo>
                <a:lnTo>
                  <a:pt x="0" y="6858000"/>
                </a:lnTo>
                <a:lnTo>
                  <a:pt x="660384"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sp>
        <p:nvSpPr>
          <p:cNvPr id="2" name="Title 1"/>
          <p:cNvSpPr>
            <a:spLocks noGrp="1"/>
          </p:cNvSpPr>
          <p:nvPr>
            <p:ph type="title"/>
          </p:nvPr>
        </p:nvSpPr>
        <p:spPr>
          <a:xfrm>
            <a:off x="4455269" y="603666"/>
            <a:ext cx="7057847" cy="612775"/>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a:xfrm>
            <a:off x="4455269" y="1659835"/>
            <a:ext cx="7057847" cy="4398066"/>
          </a:xfrm>
          <a:prstGeom prst="rect">
            <a:avLst/>
          </a:prstGeo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BC1D7751-B046-E6FF-E802-137A168948C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6455390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One Third">
    <p:spTree>
      <p:nvGrpSpPr>
        <p:cNvPr id="1" name=""/>
        <p:cNvGrpSpPr/>
        <p:nvPr/>
      </p:nvGrpSpPr>
      <p:grpSpPr>
        <a:xfrm>
          <a:off x="0" y="0"/>
          <a:ext cx="0" cy="0"/>
          <a:chOff x="0" y="0"/>
          <a:chExt cx="0" cy="0"/>
        </a:xfrm>
      </p:grpSpPr>
      <p:sp>
        <p:nvSpPr>
          <p:cNvPr id="2" name="Title 1"/>
          <p:cNvSpPr>
            <a:spLocks noGrp="1"/>
          </p:cNvSpPr>
          <p:nvPr>
            <p:ph type="title"/>
          </p:nvPr>
        </p:nvSpPr>
        <p:spPr>
          <a:xfrm>
            <a:off x="678882" y="603666"/>
            <a:ext cx="6687118" cy="612775"/>
          </a:xfrm>
        </p:spPr>
        <p:txBody>
          <a:bodyPr/>
          <a:lstStyle/>
          <a:p>
            <a:r>
              <a:rPr lang="en-US" dirty="0"/>
              <a:t>Click to edit Master title style</a:t>
            </a:r>
          </a:p>
        </p:txBody>
      </p:sp>
      <p:sp>
        <p:nvSpPr>
          <p:cNvPr id="3" name="Content Placeholder 2"/>
          <p:cNvSpPr>
            <a:spLocks noGrp="1"/>
          </p:cNvSpPr>
          <p:nvPr>
            <p:ph idx="1"/>
          </p:nvPr>
        </p:nvSpPr>
        <p:spPr>
          <a:xfrm>
            <a:off x="678882" y="1659835"/>
            <a:ext cx="6687118" cy="439806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a:extLst>
              <a:ext uri="{FF2B5EF4-FFF2-40B4-BE49-F238E27FC236}">
                <a16:creationId xmlns:a16="http://schemas.microsoft.com/office/drawing/2014/main" id="{F19F22F4-4B18-0516-26F1-498BF7EBEAB2}"/>
              </a:ext>
            </a:extLst>
          </p:cNvPr>
          <p:cNvSpPr txBox="1">
            <a:spLocks/>
          </p:cNvSpPr>
          <p:nvPr userDrawn="1"/>
        </p:nvSpPr>
        <p:spPr>
          <a:xfrm>
            <a:off x="8567565" y="3064248"/>
            <a:ext cx="3314556" cy="61277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400" b="1" kern="1200">
                <a:solidFill>
                  <a:schemeClr val="tx1"/>
                </a:solidFill>
                <a:latin typeface="Nunito" pitchFamily="2" charset="0"/>
                <a:ea typeface="+mj-ea"/>
                <a:cs typeface="+mj-cs"/>
              </a:defRPr>
            </a:lvl1pPr>
          </a:lstStyle>
          <a:p>
            <a:r>
              <a:rPr lang="en-US" sz="3400" dirty="0">
                <a:solidFill>
                  <a:schemeClr val="bg1"/>
                </a:solidFill>
                <a:latin typeface="Calibri" panose="020F0502020204030204" pitchFamily="34" charset="0"/>
              </a:rPr>
              <a:t>Click to edit Master title style</a:t>
            </a:r>
          </a:p>
        </p:txBody>
      </p:sp>
      <p:sp>
        <p:nvSpPr>
          <p:cNvPr id="13" name="Freeform: Shape 12">
            <a:extLst>
              <a:ext uri="{FF2B5EF4-FFF2-40B4-BE49-F238E27FC236}">
                <a16:creationId xmlns:a16="http://schemas.microsoft.com/office/drawing/2014/main" id="{D78CF48E-B68F-E9BA-8398-FF8CD727D1A9}"/>
              </a:ext>
            </a:extLst>
          </p:cNvPr>
          <p:cNvSpPr/>
          <p:nvPr userDrawn="1"/>
        </p:nvSpPr>
        <p:spPr>
          <a:xfrm>
            <a:off x="7543800" y="0"/>
            <a:ext cx="4648201" cy="6858000"/>
          </a:xfrm>
          <a:custGeom>
            <a:avLst/>
            <a:gdLst>
              <a:gd name="connsiteX0" fmla="*/ 0 w 3818882"/>
              <a:gd name="connsiteY0" fmla="*/ 0 h 6858000"/>
              <a:gd name="connsiteX1" fmla="*/ 3818882 w 3818882"/>
              <a:gd name="connsiteY1" fmla="*/ 0 h 6858000"/>
              <a:gd name="connsiteX2" fmla="*/ 3818882 w 3818882"/>
              <a:gd name="connsiteY2" fmla="*/ 6858000 h 6858000"/>
              <a:gd name="connsiteX3" fmla="*/ 0 w 3818882"/>
              <a:gd name="connsiteY3" fmla="*/ 6858000 h 6858000"/>
              <a:gd name="connsiteX4" fmla="*/ 796282 w 3818882"/>
              <a:gd name="connsiteY4" fmla="*/ 3429000 h 6858000"/>
              <a:gd name="connsiteX5" fmla="*/ 0 w 3818882"/>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18882" h="6858000">
                <a:moveTo>
                  <a:pt x="0" y="0"/>
                </a:moveTo>
                <a:lnTo>
                  <a:pt x="3818882" y="0"/>
                </a:lnTo>
                <a:lnTo>
                  <a:pt x="3818882" y="6858000"/>
                </a:lnTo>
                <a:lnTo>
                  <a:pt x="0" y="6858000"/>
                </a:lnTo>
                <a:lnTo>
                  <a:pt x="796282" y="3429000"/>
                </a:lnTo>
                <a:lnTo>
                  <a:pt x="0" y="0"/>
                </a:lnTo>
                <a:close/>
              </a:path>
            </a:pathLst>
          </a:custGeom>
          <a:solidFill>
            <a:srgbClr val="1D1B5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IN" sz="1800" dirty="0"/>
          </a:p>
        </p:txBody>
      </p:sp>
      <p:pic>
        <p:nvPicPr>
          <p:cNvPr id="4" name="Picture 3">
            <a:extLst>
              <a:ext uri="{FF2B5EF4-FFF2-40B4-BE49-F238E27FC236}">
                <a16:creationId xmlns:a16="http://schemas.microsoft.com/office/drawing/2014/main" id="{5BC983E8-29C2-9FD4-5029-201C1DDD5E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07412" y="6119532"/>
            <a:ext cx="1958148" cy="540347"/>
          </a:xfrm>
          <a:prstGeom prst="rect">
            <a:avLst/>
          </a:prstGeom>
        </p:spPr>
      </p:pic>
    </p:spTree>
    <p:extLst>
      <p:ext uri="{BB962C8B-B14F-4D97-AF65-F5344CB8AC3E}">
        <p14:creationId xmlns:p14="http://schemas.microsoft.com/office/powerpoint/2010/main" val="1907501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8883" y="1709738"/>
            <a:ext cx="10834234" cy="2852737"/>
          </a:xfrm>
        </p:spPr>
        <p:txBody>
          <a:bodyPr anchor="b"/>
          <a:lstStyle>
            <a:lvl1pPr>
              <a:defRPr sz="6000"/>
            </a:lvl1pPr>
          </a:lstStyle>
          <a:p>
            <a:r>
              <a:rPr lang="en-US" dirty="0"/>
              <a:t>Click to edit Master title style</a:t>
            </a:r>
          </a:p>
        </p:txBody>
      </p:sp>
      <p:sp>
        <p:nvSpPr>
          <p:cNvPr id="3" name="Text Placeholder 2"/>
          <p:cNvSpPr>
            <a:spLocks noGrp="1"/>
          </p:cNvSpPr>
          <p:nvPr>
            <p:ph type="body" idx="1"/>
          </p:nvPr>
        </p:nvSpPr>
        <p:spPr>
          <a:xfrm>
            <a:off x="678883" y="4589464"/>
            <a:ext cx="10834234"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07278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10834233" cy="612775"/>
          </a:xfrm>
        </p:spPr>
        <p:txBody>
          <a:bodyPr/>
          <a:lstStyle/>
          <a:p>
            <a:r>
              <a:rPr lang="en-US" dirty="0"/>
              <a:t>Click to edit Master title style</a:t>
            </a:r>
          </a:p>
        </p:txBody>
      </p:sp>
      <p:sp>
        <p:nvSpPr>
          <p:cNvPr id="3" name="Content Placeholder 2"/>
          <p:cNvSpPr>
            <a:spLocks noGrp="1"/>
          </p:cNvSpPr>
          <p:nvPr>
            <p:ph sz="half" idx="1"/>
          </p:nvPr>
        </p:nvSpPr>
        <p:spPr>
          <a:xfrm>
            <a:off x="678881" y="1659835"/>
            <a:ext cx="5340919"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199" y="1659835"/>
            <a:ext cx="5340917" cy="4399442"/>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99343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5"/>
            <a:ext cx="10834234" cy="612775"/>
          </a:xfrm>
        </p:spPr>
        <p:txBody>
          <a:bodyPr/>
          <a:lstStyle/>
          <a:p>
            <a:r>
              <a:rPr lang="en-US" dirty="0"/>
              <a:t>Click to edit Master title style</a:t>
            </a:r>
          </a:p>
        </p:txBody>
      </p:sp>
      <p:sp>
        <p:nvSpPr>
          <p:cNvPr id="3" name="Text Placeholder 2"/>
          <p:cNvSpPr>
            <a:spLocks noGrp="1"/>
          </p:cNvSpPr>
          <p:nvPr>
            <p:ph type="body" idx="1"/>
          </p:nvPr>
        </p:nvSpPr>
        <p:spPr>
          <a:xfrm>
            <a:off x="678881" y="1659834"/>
            <a:ext cx="5318693"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8881" y="2505075"/>
            <a:ext cx="5318693"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2" y="1659834"/>
            <a:ext cx="5340914" cy="655349"/>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2" y="2505075"/>
            <a:ext cx="5340914" cy="3552826"/>
          </a:xfrm>
          <a:prstGeom prst="rect">
            <a:avLst/>
          </a:prstGeom>
        </p:spPr>
        <p:txBody>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19789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a:t>Click to edit Master title style</a:t>
            </a:r>
          </a:p>
        </p:txBody>
      </p:sp>
    </p:spTree>
    <p:extLst>
      <p:ext uri="{BB962C8B-B14F-4D97-AF65-F5344CB8AC3E}">
        <p14:creationId xmlns:p14="http://schemas.microsoft.com/office/powerpoint/2010/main" val="28312565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55931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8881" y="603666"/>
            <a:ext cx="4093145" cy="145373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83189" y="1659835"/>
            <a:ext cx="6329928" cy="4201215"/>
          </a:xfrm>
          <a:prstGeom prst="rect">
            <a:avLst/>
          </a:prstGeom>
        </p:spPr>
        <p:txBody>
          <a:bodyPr/>
          <a:lstStyle>
            <a:lvl1pPr>
              <a:defRPr sz="3200">
                <a:solidFill>
                  <a:schemeClr val="bg2">
                    <a:lumMod val="10000"/>
                  </a:schemeClr>
                </a:solidFill>
              </a:defRPr>
            </a:lvl1pPr>
            <a:lvl2pPr>
              <a:defRPr sz="2800">
                <a:solidFill>
                  <a:schemeClr val="bg2">
                    <a:lumMod val="10000"/>
                  </a:schemeClr>
                </a:solidFill>
              </a:defRPr>
            </a:lvl2pPr>
            <a:lvl3pPr>
              <a:defRPr sz="2400">
                <a:solidFill>
                  <a:schemeClr val="bg2">
                    <a:lumMod val="10000"/>
                  </a:schemeClr>
                </a:solidFill>
              </a:defRPr>
            </a:lvl3pPr>
            <a:lvl4pPr>
              <a:defRPr sz="2000">
                <a:solidFill>
                  <a:schemeClr val="bg2">
                    <a:lumMod val="10000"/>
                  </a:schemeClr>
                </a:solidFill>
              </a:defRPr>
            </a:lvl4pPr>
            <a:lvl5pPr>
              <a:defRPr sz="2000">
                <a:solidFill>
                  <a:schemeClr val="bg2">
                    <a:lumMod val="10000"/>
                  </a:schemeClr>
                </a:solidFill>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8881" y="2315183"/>
            <a:ext cx="4093145" cy="3553805"/>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Tree>
    <p:extLst>
      <p:ext uri="{BB962C8B-B14F-4D97-AF65-F5344CB8AC3E}">
        <p14:creationId xmlns:p14="http://schemas.microsoft.com/office/powerpoint/2010/main" val="1828349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78884" y="603666"/>
            <a:ext cx="10834234" cy="612775"/>
          </a:xfrm>
        </p:spPr>
        <p:txBody>
          <a:bodyPr/>
          <a:lstStyle/>
          <a:p>
            <a:r>
              <a:rPr lang="en-US" dirty="0"/>
              <a:t>Click to edit Master title style</a:t>
            </a:r>
          </a:p>
        </p:txBody>
      </p:sp>
      <p:sp>
        <p:nvSpPr>
          <p:cNvPr id="3" name="Vertical Text Placeholder 2"/>
          <p:cNvSpPr>
            <a:spLocks noGrp="1"/>
          </p:cNvSpPr>
          <p:nvPr>
            <p:ph type="body" orient="vert" idx="1"/>
          </p:nvPr>
        </p:nvSpPr>
        <p:spPr>
          <a:xfrm>
            <a:off x="678884" y="1659834"/>
            <a:ext cx="10834234" cy="4166933"/>
          </a:xfrm>
          <a:prstGeom prst="rect">
            <a:avLst/>
          </a:prstGeom>
        </p:spPr>
        <p:txBody>
          <a:bodyPr vert="eaVert"/>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750536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4" name="Picture 3" descr="Tech Background&quot; Images – Browse 8,227 Stock Photos, Vectors, and Video |  Adobe Stock">
            <a:extLst>
              <a:ext uri="{FF2B5EF4-FFF2-40B4-BE49-F238E27FC236}">
                <a16:creationId xmlns:a16="http://schemas.microsoft.com/office/drawing/2014/main" id="{19625874-6531-A345-C3ED-8BD86E0E300E}"/>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l="2352" t="2332" r="1954" b="1250"/>
          <a:stretch>
            <a:fillRect/>
          </a:stretch>
        </p:blipFill>
        <p:spPr bwMode="auto">
          <a:xfrm>
            <a:off x="-21770" y="0"/>
            <a:ext cx="12213771" cy="6858000"/>
          </a:xfrm>
          <a:custGeom>
            <a:avLst/>
            <a:gdLst>
              <a:gd name="connsiteX0" fmla="*/ 0 w 12213771"/>
              <a:gd name="connsiteY0" fmla="*/ 0 h 6858000"/>
              <a:gd name="connsiteX1" fmla="*/ 12213771 w 12213771"/>
              <a:gd name="connsiteY1" fmla="*/ 0 h 6858000"/>
              <a:gd name="connsiteX2" fmla="*/ 12213771 w 12213771"/>
              <a:gd name="connsiteY2" fmla="*/ 6858000 h 6858000"/>
              <a:gd name="connsiteX3" fmla="*/ 0 w 1221377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213771" h="6858000">
                <a:moveTo>
                  <a:pt x="0" y="0"/>
                </a:moveTo>
                <a:lnTo>
                  <a:pt x="12213771" y="0"/>
                </a:lnTo>
                <a:lnTo>
                  <a:pt x="12213771" y="6858000"/>
                </a:lnTo>
                <a:lnTo>
                  <a:pt x="0" y="6858000"/>
                </a:lnTo>
                <a:close/>
              </a:path>
            </a:pathLst>
          </a:custGeom>
          <a:noFill/>
          <a:extLst>
            <a:ext uri="{909E8E84-426E-40DD-AFC4-6F175D3DCCD1}">
              <a14:hiddenFill xmlns:a14="http://schemas.microsoft.com/office/drawing/2010/main">
                <a:solidFill>
                  <a:srgbClr val="FFFFFF"/>
                </a:solidFill>
              </a14:hiddenFill>
            </a:ext>
          </a:extLst>
        </p:spPr>
      </p:pic>
      <p:sp>
        <p:nvSpPr>
          <p:cNvPr id="2" name="Vertical Title 1"/>
          <p:cNvSpPr>
            <a:spLocks noGrp="1"/>
          </p:cNvSpPr>
          <p:nvPr>
            <p:ph type="title" orient="vert" hasCustomPrompt="1"/>
          </p:nvPr>
        </p:nvSpPr>
        <p:spPr>
          <a:xfrm rot="16200000">
            <a:off x="4770665" y="-2959994"/>
            <a:ext cx="2628900" cy="12213771"/>
          </a:xfrm>
        </p:spPr>
        <p:txBody>
          <a:bodyPr vert="eaVert">
            <a:normAutofit/>
          </a:bodyPr>
          <a:lstStyle>
            <a:lvl1pPr algn="ctr">
              <a:defRPr sz="8000">
                <a:solidFill>
                  <a:schemeClr val="bg1"/>
                </a:solidFill>
              </a:defRPr>
            </a:lvl1pPr>
          </a:lstStyle>
          <a:p>
            <a:r>
              <a:rPr lang="en-US" dirty="0"/>
              <a:t>Thank You</a:t>
            </a:r>
          </a:p>
        </p:txBody>
      </p:sp>
    </p:spTree>
    <p:extLst>
      <p:ext uri="{BB962C8B-B14F-4D97-AF65-F5344CB8AC3E}">
        <p14:creationId xmlns:p14="http://schemas.microsoft.com/office/powerpoint/2010/main" val="4167474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78884" y="603666"/>
            <a:ext cx="10834232" cy="612775"/>
          </a:xfrm>
          <a:prstGeom prst="rect">
            <a:avLst/>
          </a:prstGeom>
        </p:spPr>
        <p:txBody>
          <a:bodyPr vert="horz" lIns="0" tIns="0" rIns="0" bIns="0" rtlCol="0" anchor="ctr">
            <a:normAutofit/>
          </a:bodyPr>
          <a:lstStyle/>
          <a:p>
            <a:r>
              <a:rPr lang="en-US" dirty="0"/>
              <a:t>Click to edit Master title style</a:t>
            </a:r>
          </a:p>
        </p:txBody>
      </p:sp>
      <p:sp>
        <p:nvSpPr>
          <p:cNvPr id="3" name="Text Placeholder 2"/>
          <p:cNvSpPr>
            <a:spLocks noGrp="1"/>
          </p:cNvSpPr>
          <p:nvPr>
            <p:ph type="body" idx="1"/>
          </p:nvPr>
        </p:nvSpPr>
        <p:spPr>
          <a:xfrm>
            <a:off x="678884" y="1659835"/>
            <a:ext cx="10834234" cy="439806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052" name="Picture 4" descr="Top Ranked Data Science Institute, Classroom Plus Online Training | Boston  Institute of Analytics">
            <a:extLst>
              <a:ext uri="{FF2B5EF4-FFF2-40B4-BE49-F238E27FC236}">
                <a16:creationId xmlns:a16="http://schemas.microsoft.com/office/drawing/2014/main" id="{D55A4135-B2E5-3A1C-9614-E010D1062B85}"/>
              </a:ext>
            </a:extLst>
          </p:cNvPr>
          <p:cNvPicPr>
            <a:picLocks noChangeAspect="1" noChangeArrowheads="1"/>
          </p:cNvPicPr>
          <p:nvPr userDrawn="1"/>
        </p:nvPicPr>
        <p:blipFill rotWithShape="1">
          <a:blip r:embed="rId18" cstate="print">
            <a:extLst>
              <a:ext uri="{28A0092B-C50C-407E-A947-70E740481C1C}">
                <a14:useLocalDpi xmlns:a14="http://schemas.microsoft.com/office/drawing/2010/main" val="0"/>
              </a:ext>
            </a:extLst>
          </a:blip>
          <a:srcRect l="4000" r="3112"/>
          <a:stretch/>
        </p:blipFill>
        <p:spPr bwMode="auto">
          <a:xfrm>
            <a:off x="9493777" y="6115409"/>
            <a:ext cx="2019339" cy="54891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3665DF22-91AD-CE85-A78A-CF35969DE003}"/>
              </a:ext>
            </a:extLst>
          </p:cNvPr>
          <p:cNvSpPr/>
          <p:nvPr userDrawn="1"/>
        </p:nvSpPr>
        <p:spPr>
          <a:xfrm>
            <a:off x="678883" y="6207305"/>
            <a:ext cx="7474517" cy="36512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r>
              <a:rPr lang="en-US" sz="1100" b="1" dirty="0">
                <a:solidFill>
                  <a:schemeClr val="bg2">
                    <a:lumMod val="75000"/>
                  </a:schemeClr>
                </a:solidFill>
              </a:rPr>
              <a:t>CONFIDENTIAL</a:t>
            </a:r>
            <a:r>
              <a:rPr lang="en-US" sz="1100" dirty="0">
                <a:solidFill>
                  <a:schemeClr val="bg2">
                    <a:lumMod val="75000"/>
                  </a:schemeClr>
                </a:solidFill>
              </a:rPr>
              <a:t>: The information in this document belongs to Boston Institute of Analytics LLC. Any unauthorized sharing of this material is prohibited and subject to legal action under breach of IP and confidentiality clauses. </a:t>
            </a:r>
          </a:p>
        </p:txBody>
      </p:sp>
    </p:spTree>
    <p:extLst>
      <p:ext uri="{BB962C8B-B14F-4D97-AF65-F5344CB8AC3E}">
        <p14:creationId xmlns:p14="http://schemas.microsoft.com/office/powerpoint/2010/main" val="16281783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73" r:id="rId4"/>
    <p:sldLayoutId id="2147483674" r:id="rId5"/>
    <p:sldLayoutId id="2147483675" r:id="rId6"/>
    <p:sldLayoutId id="2147483677" r:id="rId7"/>
    <p:sldLayoutId id="2147483676" r:id="rId8"/>
    <p:sldLayoutId id="2147483663" r:id="rId9"/>
    <p:sldLayoutId id="2147483664" r:id="rId10"/>
    <p:sldLayoutId id="2147483665" r:id="rId11"/>
    <p:sldLayoutId id="2147483666" r:id="rId12"/>
    <p:sldLayoutId id="2147483667" r:id="rId13"/>
    <p:sldLayoutId id="2147483668" r:id="rId14"/>
    <p:sldLayoutId id="2147483670" r:id="rId15"/>
    <p:sldLayoutId id="2147483671" r:id="rId16"/>
  </p:sldLayoutIdLst>
  <p:txStyles>
    <p:title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A225F15-9B21-01FF-BD6D-D04F30F7A091}"/>
              </a:ext>
            </a:extLst>
          </p:cNvPr>
          <p:cNvSpPr/>
          <p:nvPr/>
        </p:nvSpPr>
        <p:spPr>
          <a:xfrm>
            <a:off x="415635" y="3023239"/>
            <a:ext cx="11776365" cy="81152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latin typeface="Calibri" panose="020F0502020204030204" pitchFamily="34" charset="0"/>
              </a:rPr>
              <a:t>Fraud Detection System</a:t>
            </a:r>
          </a:p>
        </p:txBody>
      </p:sp>
    </p:spTree>
    <p:extLst>
      <p:ext uri="{BB962C8B-B14F-4D97-AF65-F5344CB8AC3E}">
        <p14:creationId xmlns:p14="http://schemas.microsoft.com/office/powerpoint/2010/main" val="1024334718"/>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B360-A630-EE21-210D-844E85048949}"/>
              </a:ext>
            </a:extLst>
          </p:cNvPr>
          <p:cNvSpPr>
            <a:spLocks noGrp="1"/>
          </p:cNvSpPr>
          <p:nvPr>
            <p:ph type="title"/>
          </p:nvPr>
        </p:nvSpPr>
        <p:spPr/>
        <p:txBody>
          <a:bodyPr/>
          <a:lstStyle/>
          <a:p>
            <a:r>
              <a:rPr lang="en-US" dirty="0">
                <a:solidFill>
                  <a:schemeClr val="accent1">
                    <a:lumMod val="50000"/>
                  </a:schemeClr>
                </a:solidFill>
              </a:rPr>
              <a:t>Agenda</a:t>
            </a:r>
            <a:endParaRPr lang="en-IN" dirty="0">
              <a:solidFill>
                <a:schemeClr val="accent1">
                  <a:lumMod val="50000"/>
                </a:schemeClr>
              </a:solidFill>
            </a:endParaRPr>
          </a:p>
        </p:txBody>
      </p:sp>
      <p:sp>
        <p:nvSpPr>
          <p:cNvPr id="4" name="Content Placeholder 2">
            <a:extLst>
              <a:ext uri="{FF2B5EF4-FFF2-40B4-BE49-F238E27FC236}">
                <a16:creationId xmlns:a16="http://schemas.microsoft.com/office/drawing/2014/main" id="{DBF5B2F9-95E9-B8E5-7800-77B730988BB6}"/>
              </a:ext>
            </a:extLst>
          </p:cNvPr>
          <p:cNvSpPr>
            <a:spLocks noGrp="1"/>
          </p:cNvSpPr>
          <p:nvPr>
            <p:ph idx="1"/>
          </p:nvPr>
        </p:nvSpPr>
        <p:spPr>
          <a:xfrm>
            <a:off x="680018" y="1545504"/>
            <a:ext cx="10833100" cy="4398962"/>
          </a:xfrm>
        </p:spPr>
        <p:txBody>
          <a:bodyPr>
            <a:normAutofit/>
          </a:bodyPr>
          <a:lstStyle/>
          <a:p>
            <a:pPr marL="0" indent="0">
              <a:buNone/>
            </a:pPr>
            <a:r>
              <a:rPr lang="en-US" sz="2400" dirty="0"/>
              <a:t>1.   Project Overview</a:t>
            </a:r>
          </a:p>
          <a:p>
            <a:pPr marL="0" indent="0">
              <a:buNone/>
            </a:pPr>
            <a:r>
              <a:rPr lang="en-US" sz="2400" dirty="0"/>
              <a:t>2.   Dataset Overview &amp; EDA</a:t>
            </a:r>
          </a:p>
          <a:p>
            <a:pPr marL="0" indent="0">
              <a:buNone/>
            </a:pPr>
            <a:r>
              <a:rPr lang="en-US" sz="2400" dirty="0"/>
              <a:t>3.   Feature Engineering</a:t>
            </a:r>
          </a:p>
          <a:p>
            <a:pPr marL="0" indent="0">
              <a:buNone/>
            </a:pPr>
            <a:r>
              <a:rPr lang="en-US" sz="2400" dirty="0"/>
              <a:t>4.   Model Building &amp; Selection</a:t>
            </a:r>
          </a:p>
          <a:p>
            <a:pPr marL="0" indent="0">
              <a:buNone/>
            </a:pPr>
            <a:r>
              <a:rPr lang="en-US" sz="2400" dirty="0"/>
              <a:t>5.   Model Performance Evaluation</a:t>
            </a:r>
          </a:p>
          <a:p>
            <a:pPr marL="0" indent="0">
              <a:buNone/>
            </a:pPr>
            <a:r>
              <a:rPr lang="en-US" sz="2400" dirty="0"/>
              <a:t>6.   Financial Impact Analysis</a:t>
            </a:r>
          </a:p>
          <a:p>
            <a:pPr marL="457200" indent="-457200">
              <a:buAutoNum type="arabicPeriod" startAt="7"/>
            </a:pPr>
            <a:r>
              <a:rPr lang="en-US" sz="2400" dirty="0"/>
              <a:t>Power BI Dashboard</a:t>
            </a:r>
          </a:p>
          <a:p>
            <a:pPr marL="457200" indent="-457200">
              <a:buAutoNum type="arabicPeriod" startAt="7"/>
            </a:pPr>
            <a:r>
              <a:rPr lang="en-US" sz="2400" dirty="0"/>
              <a:t>Conclusion </a:t>
            </a:r>
          </a:p>
        </p:txBody>
      </p:sp>
    </p:spTree>
    <p:extLst>
      <p:ext uri="{BB962C8B-B14F-4D97-AF65-F5344CB8AC3E}">
        <p14:creationId xmlns:p14="http://schemas.microsoft.com/office/powerpoint/2010/main" val="1953804542"/>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F2650-F671-C717-4690-E90FBDFAD194}"/>
              </a:ext>
            </a:extLst>
          </p:cNvPr>
          <p:cNvSpPr>
            <a:spLocks noGrp="1"/>
          </p:cNvSpPr>
          <p:nvPr>
            <p:ph type="title"/>
          </p:nvPr>
        </p:nvSpPr>
        <p:spPr>
          <a:xfrm>
            <a:off x="678883" y="407306"/>
            <a:ext cx="10834234" cy="612775"/>
          </a:xfrm>
        </p:spPr>
        <p:txBody>
          <a:bodyPr/>
          <a:lstStyle/>
          <a:p>
            <a:pPr algn="ctr"/>
            <a:r>
              <a:rPr lang="en-US" dirty="0">
                <a:solidFill>
                  <a:schemeClr val="accent1">
                    <a:lumMod val="50000"/>
                  </a:schemeClr>
                </a:solidFill>
              </a:rPr>
              <a:t>Project Overview</a:t>
            </a:r>
          </a:p>
        </p:txBody>
      </p:sp>
      <p:sp>
        <p:nvSpPr>
          <p:cNvPr id="4" name="Content Placeholder 2">
            <a:extLst>
              <a:ext uri="{FF2B5EF4-FFF2-40B4-BE49-F238E27FC236}">
                <a16:creationId xmlns:a16="http://schemas.microsoft.com/office/drawing/2014/main" id="{359711F2-77D9-92EB-3442-F47A4106C4ED}"/>
              </a:ext>
            </a:extLst>
          </p:cNvPr>
          <p:cNvSpPr>
            <a:spLocks noGrp="1"/>
          </p:cNvSpPr>
          <p:nvPr>
            <p:ph idx="1"/>
          </p:nvPr>
        </p:nvSpPr>
        <p:spPr>
          <a:xfrm>
            <a:off x="680584" y="1452109"/>
            <a:ext cx="10833100" cy="4542973"/>
          </a:xfrm>
          <a:prstGeom prst="rect">
            <a:avLst/>
          </a:prstGeom>
        </p:spPr>
        <p:txBody>
          <a:bodyPr>
            <a:normAutofit/>
          </a:bodyPr>
          <a:lstStyle>
            <a:lvl1pPr>
              <a:defRPr>
                <a:solidFill>
                  <a:schemeClr val="bg2">
                    <a:lumMod val="10000"/>
                  </a:schemeClr>
                </a:solidFill>
              </a:defRPr>
            </a:lvl1pPr>
            <a:lvl2pPr>
              <a:defRPr>
                <a:solidFill>
                  <a:schemeClr val="bg2">
                    <a:lumMod val="10000"/>
                  </a:schemeClr>
                </a:solidFill>
              </a:defRPr>
            </a:lvl2pPr>
            <a:lvl3pPr>
              <a:defRPr>
                <a:solidFill>
                  <a:schemeClr val="bg2">
                    <a:lumMod val="10000"/>
                  </a:schemeClr>
                </a:solidFill>
              </a:defRPr>
            </a:lvl3pPr>
            <a:lvl4pPr>
              <a:defRPr>
                <a:solidFill>
                  <a:schemeClr val="bg2">
                    <a:lumMod val="10000"/>
                  </a:schemeClr>
                </a:solidFill>
              </a:defRPr>
            </a:lvl4pPr>
            <a:lvl5pPr>
              <a:defRPr>
                <a:solidFill>
                  <a:schemeClr val="bg2">
                    <a:lumMod val="10000"/>
                  </a:schemeClr>
                </a:solidFill>
              </a:defRPr>
            </a:lvl5pPr>
          </a:lstStyle>
          <a:p>
            <a:pPr lvl="0"/>
            <a:r>
              <a:rPr lang="en-US" sz="2000" b="1" dirty="0"/>
              <a:t>Goal</a:t>
            </a:r>
          </a:p>
          <a:p>
            <a:pPr lvl="1"/>
            <a:r>
              <a:rPr lang="en-US" sz="2000" dirty="0"/>
              <a:t>Develop a robust ML model to accurately detect fraudulent mobile financial transactions in real-time</a:t>
            </a:r>
          </a:p>
          <a:p>
            <a:pPr lvl="0"/>
            <a:r>
              <a:rPr lang="en-US" sz="2000" b="1" dirty="0"/>
              <a:t>Deliverables</a:t>
            </a:r>
          </a:p>
          <a:p>
            <a:pPr lvl="1"/>
            <a:r>
              <a:rPr lang="en-US" sz="2000" dirty="0"/>
              <a:t>Production-ready fraud detection model</a:t>
            </a:r>
          </a:p>
          <a:p>
            <a:pPr lvl="1"/>
            <a:r>
              <a:rPr lang="en-US" sz="2000" dirty="0"/>
              <a:t>Comprehensive model performance and financial impact analysis</a:t>
            </a:r>
          </a:p>
          <a:p>
            <a:pPr lvl="0"/>
            <a:r>
              <a:rPr lang="en-US" sz="2000" b="1" dirty="0"/>
              <a:t>Business Impact</a:t>
            </a:r>
          </a:p>
          <a:p>
            <a:pPr lvl="1"/>
            <a:r>
              <a:rPr lang="en-US" sz="2000" dirty="0"/>
              <a:t>Improve security, reduce financial losses, and gain insights into fraud patterns</a:t>
            </a:r>
          </a:p>
          <a:p>
            <a:r>
              <a:rPr lang="en-US" sz="2000" b="1" dirty="0"/>
              <a:t>Problem Statement</a:t>
            </a:r>
          </a:p>
          <a:p>
            <a:pPr lvl="1"/>
            <a:r>
              <a:rPr lang="en-US" sz="2000" dirty="0"/>
              <a:t>Mobile transactions are growing rapidly </a:t>
            </a:r>
          </a:p>
          <a:p>
            <a:pPr lvl="1"/>
            <a:r>
              <a:rPr lang="en-US" sz="2000" dirty="0"/>
              <a:t>Fraud causes billions in losses every year</a:t>
            </a:r>
          </a:p>
          <a:p>
            <a:pPr lvl="1"/>
            <a:r>
              <a:rPr lang="en-US" sz="2000" dirty="0"/>
              <a:t>Need for ML based real-time detection</a:t>
            </a:r>
          </a:p>
          <a:p>
            <a:pPr marL="0" lvl="0" indent="0" eaLnBrk="0" fontAlgn="base" hangingPunct="0">
              <a:lnSpc>
                <a:spcPct val="100000"/>
              </a:lnSpc>
              <a:spcBef>
                <a:spcPct val="0"/>
              </a:spcBef>
              <a:spcAft>
                <a:spcPct val="0"/>
              </a:spcAft>
              <a:buNone/>
            </a:pPr>
            <a:endParaRPr lang="en-US" altLang="en-US" sz="2000" dirty="0">
              <a:solidFill>
                <a:schemeClr val="tx1"/>
              </a:solidFill>
              <a:latin typeface="Arial" panose="020B0604020202020204" pitchFamily="34" charset="0"/>
            </a:endParaRPr>
          </a:p>
          <a:p>
            <a:pPr lvl="1"/>
            <a:endParaRPr lang="en-US" sz="2000" dirty="0"/>
          </a:p>
        </p:txBody>
      </p:sp>
    </p:spTree>
    <p:extLst>
      <p:ext uri="{BB962C8B-B14F-4D97-AF65-F5344CB8AC3E}">
        <p14:creationId xmlns:p14="http://schemas.microsoft.com/office/powerpoint/2010/main" val="4145033896"/>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53F5-3FF5-F820-B593-B4F4AF27A2B6}"/>
              </a:ext>
            </a:extLst>
          </p:cNvPr>
          <p:cNvSpPr>
            <a:spLocks noGrp="1"/>
          </p:cNvSpPr>
          <p:nvPr>
            <p:ph type="title"/>
          </p:nvPr>
        </p:nvSpPr>
        <p:spPr>
          <a:xfrm>
            <a:off x="678883" y="389354"/>
            <a:ext cx="10834234" cy="612775"/>
          </a:xfrm>
        </p:spPr>
        <p:txBody>
          <a:bodyPr/>
          <a:lstStyle/>
          <a:p>
            <a:pPr algn="ctr"/>
            <a:r>
              <a:rPr lang="en-US" dirty="0">
                <a:solidFill>
                  <a:schemeClr val="accent1">
                    <a:lumMod val="50000"/>
                  </a:schemeClr>
                </a:solidFill>
              </a:rPr>
              <a:t>Dataset Overview &amp; EDA</a:t>
            </a:r>
            <a:endParaRPr lang="en-IN" dirty="0">
              <a:solidFill>
                <a:schemeClr val="accent1">
                  <a:lumMod val="50000"/>
                </a:schemeClr>
              </a:solidFill>
            </a:endParaRPr>
          </a:p>
        </p:txBody>
      </p:sp>
      <p:sp>
        <p:nvSpPr>
          <p:cNvPr id="10" name="Content Placeholder 4">
            <a:extLst>
              <a:ext uri="{FF2B5EF4-FFF2-40B4-BE49-F238E27FC236}">
                <a16:creationId xmlns:a16="http://schemas.microsoft.com/office/drawing/2014/main" id="{67BA61CE-2991-5BC3-C050-86CC3F415AB7}"/>
              </a:ext>
            </a:extLst>
          </p:cNvPr>
          <p:cNvSpPr>
            <a:spLocks noGrp="1"/>
          </p:cNvSpPr>
          <p:nvPr>
            <p:ph idx="1"/>
          </p:nvPr>
        </p:nvSpPr>
        <p:spPr>
          <a:xfrm>
            <a:off x="794318" y="1615282"/>
            <a:ext cx="10833100" cy="4398962"/>
          </a:xfrm>
        </p:spPr>
        <p:txBody>
          <a:bodyPr>
            <a:normAutofit/>
          </a:bodyPr>
          <a:lstStyle/>
          <a:p>
            <a:pPr lvl="0"/>
            <a:r>
              <a:rPr lang="en-US" sz="2000" b="1" dirty="0"/>
              <a:t>Dataset</a:t>
            </a:r>
          </a:p>
          <a:p>
            <a:pPr lvl="1"/>
            <a:r>
              <a:rPr lang="en-US" sz="2000" dirty="0"/>
              <a:t>11,142 transactions | 10 columns | No missing values</a:t>
            </a:r>
          </a:p>
          <a:p>
            <a:pPr lvl="1"/>
            <a:r>
              <a:rPr lang="en-US" sz="2000" dirty="0"/>
              <a:t>10,000 Legitimate vs 1,142 Fraud (Class Imbalance)</a:t>
            </a:r>
          </a:p>
          <a:p>
            <a:pPr lvl="0"/>
            <a:r>
              <a:rPr lang="en-US" sz="2000" b="1" dirty="0"/>
              <a:t>Key EDA Findings</a:t>
            </a:r>
          </a:p>
          <a:p>
            <a:pPr lvl="1"/>
            <a:r>
              <a:rPr lang="en-US" sz="2000" dirty="0"/>
              <a:t>Fraud occurs ONLY in TRANSFER and CASH_OUT transactions</a:t>
            </a:r>
          </a:p>
          <a:p>
            <a:pPr lvl="1"/>
            <a:r>
              <a:rPr lang="en-US" sz="2000" dirty="0"/>
              <a:t>Avg fraud amount 1.19M vs 101K for legitimate (12x higher)</a:t>
            </a:r>
          </a:p>
          <a:p>
            <a:pPr lvl="1"/>
            <a:r>
              <a:rPr lang="en-US" sz="2000" dirty="0"/>
              <a:t>Strong correlations between balance columns (0.93-0.94)</a:t>
            </a:r>
          </a:p>
          <a:p>
            <a:pPr lvl="0"/>
            <a:r>
              <a:rPr lang="en-US" sz="2000" b="1" dirty="0"/>
              <a:t>Visualizations Used</a:t>
            </a:r>
          </a:p>
          <a:p>
            <a:pPr lvl="1"/>
            <a:r>
              <a:rPr lang="en-US" sz="2000" dirty="0"/>
              <a:t>Correlation Heatmap, Boxplots, Countplots, Amount by Fraud, Type vs Fraud</a:t>
            </a:r>
          </a:p>
        </p:txBody>
      </p:sp>
    </p:spTree>
    <p:extLst>
      <p:ext uri="{BB962C8B-B14F-4D97-AF65-F5344CB8AC3E}">
        <p14:creationId xmlns:p14="http://schemas.microsoft.com/office/powerpoint/2010/main" val="2272459462"/>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54001CA-5374-6809-A0C9-AADD086EBF58}"/>
              </a:ext>
            </a:extLst>
          </p:cNvPr>
          <p:cNvPicPr>
            <a:picLocks noChangeAspect="1"/>
          </p:cNvPicPr>
          <p:nvPr/>
        </p:nvPicPr>
        <p:blipFill>
          <a:blip r:embed="rId2"/>
          <a:stretch>
            <a:fillRect/>
          </a:stretch>
        </p:blipFill>
        <p:spPr>
          <a:xfrm>
            <a:off x="3044268" y="1000688"/>
            <a:ext cx="5266120" cy="4856624"/>
          </a:xfrm>
          <a:prstGeom prst="rect">
            <a:avLst/>
          </a:prstGeom>
        </p:spPr>
      </p:pic>
      <p:sp>
        <p:nvSpPr>
          <p:cNvPr id="8" name="Title 7">
            <a:extLst>
              <a:ext uri="{FF2B5EF4-FFF2-40B4-BE49-F238E27FC236}">
                <a16:creationId xmlns:a16="http://schemas.microsoft.com/office/drawing/2014/main" id="{65DE2C02-2D7D-0B4A-47D3-6AA79F9B5CC0}"/>
              </a:ext>
            </a:extLst>
          </p:cNvPr>
          <p:cNvSpPr>
            <a:spLocks noGrp="1"/>
          </p:cNvSpPr>
          <p:nvPr>
            <p:ph type="title"/>
          </p:nvPr>
        </p:nvSpPr>
        <p:spPr>
          <a:xfrm>
            <a:off x="412877" y="221280"/>
            <a:ext cx="10834234" cy="612775"/>
          </a:xfrm>
        </p:spPr>
        <p:txBody>
          <a:bodyPr/>
          <a:lstStyle/>
          <a:p>
            <a:pPr algn="ctr"/>
            <a:r>
              <a:rPr lang="en-US" b="0" dirty="0">
                <a:solidFill>
                  <a:schemeClr val="accent1">
                    <a:lumMod val="50000"/>
                  </a:schemeClr>
                </a:solidFill>
              </a:rPr>
              <a:t>Correlation Heatmap</a:t>
            </a:r>
            <a:endParaRPr lang="en-US" dirty="0">
              <a:solidFill>
                <a:schemeClr val="accent1">
                  <a:lumMod val="50000"/>
                </a:schemeClr>
              </a:solidFill>
            </a:endParaRPr>
          </a:p>
        </p:txBody>
      </p:sp>
    </p:spTree>
    <p:extLst>
      <p:ext uri="{BB962C8B-B14F-4D97-AF65-F5344CB8AC3E}">
        <p14:creationId xmlns:p14="http://schemas.microsoft.com/office/powerpoint/2010/main" val="552748936"/>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962B9657-50F0-16A0-92AD-6DBAC04B7A99}"/>
              </a:ext>
            </a:extLst>
          </p:cNvPr>
          <p:cNvSpPr>
            <a:spLocks noGrp="1"/>
          </p:cNvSpPr>
          <p:nvPr>
            <p:ph type="body" idx="1"/>
          </p:nvPr>
        </p:nvSpPr>
        <p:spPr>
          <a:xfrm>
            <a:off x="678880" y="364986"/>
            <a:ext cx="5318693" cy="503188"/>
          </a:xfrm>
        </p:spPr>
        <p:txBody>
          <a:bodyPr/>
          <a:lstStyle/>
          <a:p>
            <a:r>
              <a:rPr lang="en-US" dirty="0">
                <a:solidFill>
                  <a:schemeClr val="accent1">
                    <a:lumMod val="50000"/>
                  </a:schemeClr>
                </a:solidFill>
              </a:rPr>
              <a:t>Transaction Type vs Fraud - </a:t>
            </a:r>
            <a:r>
              <a:rPr lang="en-US" dirty="0" err="1">
                <a:solidFill>
                  <a:schemeClr val="accent1">
                    <a:lumMod val="50000"/>
                  </a:schemeClr>
                </a:solidFill>
              </a:rPr>
              <a:t>Countplot</a:t>
            </a:r>
            <a:endParaRPr lang="en-US" dirty="0">
              <a:solidFill>
                <a:schemeClr val="accent1">
                  <a:lumMod val="50000"/>
                </a:schemeClr>
              </a:solidFill>
            </a:endParaRPr>
          </a:p>
        </p:txBody>
      </p:sp>
      <p:sp>
        <p:nvSpPr>
          <p:cNvPr id="9" name="Text Placeholder 8">
            <a:extLst>
              <a:ext uri="{FF2B5EF4-FFF2-40B4-BE49-F238E27FC236}">
                <a16:creationId xmlns:a16="http://schemas.microsoft.com/office/drawing/2014/main" id="{148CABC9-FF66-B706-36B2-CF60698FF097}"/>
              </a:ext>
            </a:extLst>
          </p:cNvPr>
          <p:cNvSpPr>
            <a:spLocks noGrp="1"/>
          </p:cNvSpPr>
          <p:nvPr>
            <p:ph type="body" sz="quarter" idx="3"/>
          </p:nvPr>
        </p:nvSpPr>
        <p:spPr>
          <a:xfrm>
            <a:off x="6194428" y="193498"/>
            <a:ext cx="5340914" cy="655349"/>
          </a:xfrm>
        </p:spPr>
        <p:txBody>
          <a:bodyPr>
            <a:normAutofit fontScale="92500"/>
          </a:bodyPr>
          <a:lstStyle/>
          <a:p>
            <a:r>
              <a:rPr lang="en-US" dirty="0">
                <a:solidFill>
                  <a:schemeClr val="accent1">
                    <a:lumMod val="50000"/>
                  </a:schemeClr>
                </a:solidFill>
              </a:rPr>
              <a:t>Fraud vs Legitimate Transactions - </a:t>
            </a:r>
            <a:r>
              <a:rPr lang="en-US" dirty="0" err="1">
                <a:solidFill>
                  <a:schemeClr val="accent1">
                    <a:lumMod val="50000"/>
                  </a:schemeClr>
                </a:solidFill>
              </a:rPr>
              <a:t>Countplot</a:t>
            </a:r>
            <a:endParaRPr lang="en-US" dirty="0">
              <a:solidFill>
                <a:schemeClr val="accent1">
                  <a:lumMod val="50000"/>
                </a:schemeClr>
              </a:solidFill>
            </a:endParaRPr>
          </a:p>
        </p:txBody>
      </p:sp>
      <p:pic>
        <p:nvPicPr>
          <p:cNvPr id="12" name="Picture 11">
            <a:extLst>
              <a:ext uri="{FF2B5EF4-FFF2-40B4-BE49-F238E27FC236}">
                <a16:creationId xmlns:a16="http://schemas.microsoft.com/office/drawing/2014/main" id="{0BF66C2A-ACF2-E5D6-AE56-7635DF99F66F}"/>
              </a:ext>
            </a:extLst>
          </p:cNvPr>
          <p:cNvPicPr>
            <a:picLocks noChangeAspect="1"/>
          </p:cNvPicPr>
          <p:nvPr/>
        </p:nvPicPr>
        <p:blipFill>
          <a:blip r:embed="rId2"/>
          <a:stretch>
            <a:fillRect/>
          </a:stretch>
        </p:blipFill>
        <p:spPr>
          <a:xfrm>
            <a:off x="301509" y="1373842"/>
            <a:ext cx="5318693" cy="4110315"/>
          </a:xfrm>
          <a:prstGeom prst="rect">
            <a:avLst/>
          </a:prstGeom>
        </p:spPr>
      </p:pic>
      <p:pic>
        <p:nvPicPr>
          <p:cNvPr id="14" name="Picture 13">
            <a:extLst>
              <a:ext uri="{FF2B5EF4-FFF2-40B4-BE49-F238E27FC236}">
                <a16:creationId xmlns:a16="http://schemas.microsoft.com/office/drawing/2014/main" id="{B603CBDC-78F4-66A6-89F7-3D1E3EA3C3D4}"/>
              </a:ext>
            </a:extLst>
          </p:cNvPr>
          <p:cNvPicPr>
            <a:picLocks noChangeAspect="1"/>
          </p:cNvPicPr>
          <p:nvPr/>
        </p:nvPicPr>
        <p:blipFill>
          <a:blip r:embed="rId3"/>
          <a:stretch>
            <a:fillRect/>
          </a:stretch>
        </p:blipFill>
        <p:spPr>
          <a:xfrm>
            <a:off x="6216649" y="1131032"/>
            <a:ext cx="5281847" cy="4503283"/>
          </a:xfrm>
          <a:prstGeom prst="rect">
            <a:avLst/>
          </a:prstGeom>
        </p:spPr>
      </p:pic>
    </p:spTree>
    <p:extLst>
      <p:ext uri="{BB962C8B-B14F-4D97-AF65-F5344CB8AC3E}">
        <p14:creationId xmlns:p14="http://schemas.microsoft.com/office/powerpoint/2010/main" val="1888965003"/>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202DC98-4482-02A3-905E-6FFA9FD76623}"/>
              </a:ext>
            </a:extLst>
          </p:cNvPr>
          <p:cNvSpPr>
            <a:spLocks noGrp="1"/>
          </p:cNvSpPr>
          <p:nvPr>
            <p:ph type="title"/>
          </p:nvPr>
        </p:nvSpPr>
        <p:spPr>
          <a:xfrm>
            <a:off x="678884" y="130629"/>
            <a:ext cx="10834234" cy="1072697"/>
          </a:xfrm>
        </p:spPr>
        <p:txBody>
          <a:bodyPr>
            <a:normAutofit/>
          </a:bodyPr>
          <a:lstStyle/>
          <a:p>
            <a:pPr algn="ctr"/>
            <a:r>
              <a:rPr lang="en-US" dirty="0"/>
              <a:t>Amount Distribution by Fraud — Boxplot </a:t>
            </a:r>
          </a:p>
        </p:txBody>
      </p:sp>
      <p:pic>
        <p:nvPicPr>
          <p:cNvPr id="10" name="Picture 9">
            <a:extLst>
              <a:ext uri="{FF2B5EF4-FFF2-40B4-BE49-F238E27FC236}">
                <a16:creationId xmlns:a16="http://schemas.microsoft.com/office/drawing/2014/main" id="{65C90DFB-0D98-60FD-37AB-90F4A73669B6}"/>
              </a:ext>
            </a:extLst>
          </p:cNvPr>
          <p:cNvPicPr>
            <a:picLocks noChangeAspect="1"/>
          </p:cNvPicPr>
          <p:nvPr/>
        </p:nvPicPr>
        <p:blipFill>
          <a:blip r:embed="rId2"/>
          <a:stretch>
            <a:fillRect/>
          </a:stretch>
        </p:blipFill>
        <p:spPr>
          <a:xfrm>
            <a:off x="5701961" y="1503821"/>
            <a:ext cx="5448300" cy="4248150"/>
          </a:xfrm>
          <a:prstGeom prst="rect">
            <a:avLst/>
          </a:prstGeom>
        </p:spPr>
      </p:pic>
      <p:sp>
        <p:nvSpPr>
          <p:cNvPr id="12" name="TextBox 11">
            <a:extLst>
              <a:ext uri="{FF2B5EF4-FFF2-40B4-BE49-F238E27FC236}">
                <a16:creationId xmlns:a16="http://schemas.microsoft.com/office/drawing/2014/main" id="{2E3F3B67-0642-E043-360D-62529F8A1369}"/>
              </a:ext>
            </a:extLst>
          </p:cNvPr>
          <p:cNvSpPr txBox="1"/>
          <p:nvPr/>
        </p:nvSpPr>
        <p:spPr>
          <a:xfrm>
            <a:off x="377370" y="1596571"/>
            <a:ext cx="5138057" cy="2031325"/>
          </a:xfrm>
          <a:prstGeom prst="rect">
            <a:avLst/>
          </a:prstGeom>
          <a:noFill/>
        </p:spPr>
        <p:txBody>
          <a:bodyPr wrap="square" rtlCol="0">
            <a:spAutoFit/>
          </a:bodyPr>
          <a:lstStyle/>
          <a:p>
            <a:r>
              <a:rPr lang="en-US" dirty="0"/>
              <a:t>X-axis</a:t>
            </a:r>
          </a:p>
          <a:p>
            <a:pPr marL="285750" indent="-285750">
              <a:buFont typeface="Arial" panose="020B0604020202020204" pitchFamily="34" charset="0"/>
              <a:buChar char="•"/>
            </a:pPr>
            <a:r>
              <a:rPr lang="en-US" dirty="0"/>
              <a:t>0 = Legitimate transactions</a:t>
            </a:r>
          </a:p>
          <a:p>
            <a:pPr marL="285750" indent="-285750">
              <a:buFont typeface="Arial" panose="020B0604020202020204" pitchFamily="34" charset="0"/>
              <a:buChar char="•"/>
            </a:pPr>
            <a:r>
              <a:rPr lang="en-US" dirty="0"/>
              <a:t>1 = Fraud transactions</a:t>
            </a:r>
          </a:p>
          <a:p>
            <a:endParaRPr lang="en-US" dirty="0"/>
          </a:p>
          <a:p>
            <a:r>
              <a:rPr lang="en-US" dirty="0"/>
              <a:t>Y-axis</a:t>
            </a:r>
          </a:p>
          <a:p>
            <a:pPr marL="285750" indent="-285750">
              <a:buFont typeface="Arial" panose="020B0604020202020204" pitchFamily="34" charset="0"/>
              <a:buChar char="•"/>
            </a:pPr>
            <a:r>
              <a:rPr lang="en-US" dirty="0"/>
              <a:t>Amount of transaction in values up to 10 million</a:t>
            </a:r>
            <a:br>
              <a:rPr lang="en-US" dirty="0"/>
            </a:br>
            <a:endParaRPr lang="en-US" dirty="0"/>
          </a:p>
        </p:txBody>
      </p:sp>
    </p:spTree>
    <p:extLst>
      <p:ext uri="{BB962C8B-B14F-4D97-AF65-F5344CB8AC3E}">
        <p14:creationId xmlns:p14="http://schemas.microsoft.com/office/powerpoint/2010/main" val="3306475710"/>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6E208B89-6ABE-3238-8121-3FF9A6408212}"/>
              </a:ext>
            </a:extLst>
          </p:cNvPr>
          <p:cNvSpPr txBox="1">
            <a:spLocks/>
          </p:cNvSpPr>
          <p:nvPr/>
        </p:nvSpPr>
        <p:spPr>
          <a:xfrm>
            <a:off x="342900" y="448887"/>
            <a:ext cx="7494814" cy="558615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b="1" dirty="0"/>
              <a:t>New Features Created</a:t>
            </a:r>
          </a:p>
          <a:p>
            <a:pPr lvl="1"/>
            <a:r>
              <a:rPr lang="en-US" sz="2000" dirty="0"/>
              <a:t>balanceDiffOrig - How much money left the sender account</a:t>
            </a:r>
          </a:p>
          <a:p>
            <a:pPr lvl="1"/>
            <a:r>
              <a:rPr lang="en-US" sz="2000" dirty="0"/>
              <a:t>balanceDiffDest - How much money arrived in receiver account</a:t>
            </a:r>
          </a:p>
          <a:p>
            <a:pPr lvl="1"/>
            <a:r>
              <a:rPr lang="en-US" sz="2000" dirty="0"/>
              <a:t>errorBalanceOrig - Balance manipulation check at origin</a:t>
            </a:r>
          </a:p>
          <a:p>
            <a:pPr lvl="1"/>
            <a:r>
              <a:rPr lang="en-US" sz="2000" dirty="0"/>
              <a:t>errorBalanceDest - Balance manipulation check at destination</a:t>
            </a:r>
          </a:p>
          <a:p>
            <a:pPr lvl="1"/>
            <a:r>
              <a:rPr lang="en-US" sz="2000" dirty="0"/>
              <a:t>isOriginDrained - Flag if sender account drained to zero (99.2% fraud signal)</a:t>
            </a:r>
          </a:p>
          <a:p>
            <a:pPr lvl="1"/>
            <a:r>
              <a:rPr lang="en-US" sz="2000" dirty="0"/>
              <a:t>isDestPreviouslyEmpty - Flag for mule accounts (63.7% fraud signal)</a:t>
            </a:r>
          </a:p>
          <a:p>
            <a:r>
              <a:rPr lang="en-US" sz="2000" b="1" dirty="0"/>
              <a:t>Encoding</a:t>
            </a:r>
          </a:p>
          <a:p>
            <a:pPr lvl="1"/>
            <a:r>
              <a:rPr lang="en-US" sz="2000" dirty="0"/>
              <a:t>LabelEncoder applied on transaction type column (5 categories)</a:t>
            </a:r>
          </a:p>
          <a:p>
            <a:pPr lvl="1"/>
            <a:r>
              <a:rPr lang="en-US" sz="2000" dirty="0"/>
              <a:t>nameOrig and nameDest dropped - ID columns, not useful as features</a:t>
            </a:r>
          </a:p>
          <a:p>
            <a:r>
              <a:rPr lang="en-US" sz="2000" b="1" dirty="0"/>
              <a:t>Result</a:t>
            </a:r>
          </a:p>
          <a:p>
            <a:pPr lvl="1"/>
            <a:r>
              <a:rPr lang="en-US" sz="2000" dirty="0"/>
              <a:t>13 total features used for model training</a:t>
            </a:r>
          </a:p>
        </p:txBody>
      </p:sp>
      <p:sp>
        <p:nvSpPr>
          <p:cNvPr id="10" name="Title 3">
            <a:extLst>
              <a:ext uri="{FF2B5EF4-FFF2-40B4-BE49-F238E27FC236}">
                <a16:creationId xmlns:a16="http://schemas.microsoft.com/office/drawing/2014/main" id="{F69DB3DB-2D6A-4800-21E5-71369CC117F1}"/>
              </a:ext>
            </a:extLst>
          </p:cNvPr>
          <p:cNvSpPr>
            <a:spLocks noGrp="1"/>
          </p:cNvSpPr>
          <p:nvPr>
            <p:ph type="title"/>
          </p:nvPr>
        </p:nvSpPr>
        <p:spPr>
          <a:xfrm>
            <a:off x="8292214" y="2525939"/>
            <a:ext cx="3792907" cy="612775"/>
          </a:xfrm>
        </p:spPr>
        <p:txBody>
          <a:bodyPr/>
          <a:lstStyle/>
          <a:p>
            <a:r>
              <a:rPr lang="en-US" dirty="0">
                <a:solidFill>
                  <a:schemeClr val="bg1"/>
                </a:solidFill>
              </a:rPr>
              <a:t>Feature Engineering</a:t>
            </a:r>
            <a:endParaRPr lang="en-IN" dirty="0">
              <a:solidFill>
                <a:schemeClr val="bg1"/>
              </a:solidFill>
            </a:endParaRPr>
          </a:p>
        </p:txBody>
      </p:sp>
    </p:spTree>
    <p:extLst>
      <p:ext uri="{BB962C8B-B14F-4D97-AF65-F5344CB8AC3E}">
        <p14:creationId xmlns:p14="http://schemas.microsoft.com/office/powerpoint/2010/main" val="1344420264"/>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032A52-C031-30D8-28BE-ADE6CE93D30D}"/>
              </a:ext>
            </a:extLst>
          </p:cNvPr>
          <p:cNvSpPr>
            <a:spLocks noGrp="1"/>
          </p:cNvSpPr>
          <p:nvPr>
            <p:ph type="title"/>
          </p:nvPr>
        </p:nvSpPr>
        <p:spPr/>
        <p:txBody>
          <a:bodyPr/>
          <a:lstStyle/>
          <a:p>
            <a:pPr algn="ctr"/>
            <a:r>
              <a:rPr lang="en-US" dirty="0">
                <a:solidFill>
                  <a:schemeClr val="tx1">
                    <a:lumMod val="90000"/>
                    <a:lumOff val="10000"/>
                  </a:schemeClr>
                </a:solidFill>
              </a:rPr>
              <a:t>Why These Models ?</a:t>
            </a:r>
          </a:p>
        </p:txBody>
      </p:sp>
      <p:sp>
        <p:nvSpPr>
          <p:cNvPr id="6" name="Rectangle 1">
            <a:extLst>
              <a:ext uri="{FF2B5EF4-FFF2-40B4-BE49-F238E27FC236}">
                <a16:creationId xmlns:a16="http://schemas.microsoft.com/office/drawing/2014/main" id="{1A83E7E0-83B0-E652-616F-7F86F90C1078}"/>
              </a:ext>
            </a:extLst>
          </p:cNvPr>
          <p:cNvSpPr>
            <a:spLocks noGrp="1" noChangeArrowheads="1"/>
          </p:cNvSpPr>
          <p:nvPr>
            <p:ph idx="1"/>
          </p:nvPr>
        </p:nvSpPr>
        <p:spPr bwMode="auto">
          <a:xfrm>
            <a:off x="821759" y="1740106"/>
            <a:ext cx="8250804"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n-lt"/>
              </a:rPr>
              <a:t>Logistic Regression :</a:t>
            </a:r>
            <a:r>
              <a:rPr kumimoji="0" lang="en-US" altLang="en-US" sz="2000" i="0" u="none" strike="noStrike" cap="none" normalizeH="0" baseline="0" dirty="0">
                <a:ln>
                  <a:noFill/>
                </a:ln>
                <a:solidFill>
                  <a:schemeClr val="tx1"/>
                </a:solidFill>
                <a:effectLst/>
                <a:latin typeface="+mn-lt"/>
              </a:rPr>
              <a:t> Simple baseline for binary classification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n-lt"/>
              </a:rPr>
              <a:t>Random Forest </a:t>
            </a:r>
            <a:r>
              <a:rPr lang="en-US" altLang="en-US" sz="2000" b="1" dirty="0">
                <a:solidFill>
                  <a:schemeClr val="tx1"/>
                </a:solidFill>
                <a:latin typeface="+mn-lt"/>
              </a:rPr>
              <a:t>:</a:t>
            </a:r>
            <a:r>
              <a:rPr kumimoji="0" lang="en-US" altLang="en-US" sz="2000" i="0" u="none" strike="noStrike" cap="none" normalizeH="0" baseline="0" dirty="0">
                <a:ln>
                  <a:noFill/>
                </a:ln>
                <a:solidFill>
                  <a:schemeClr val="tx1"/>
                </a:solidFill>
                <a:effectLst/>
                <a:latin typeface="+mn-lt"/>
              </a:rPr>
              <a:t> Handles complex patterns, resistant to overfitting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n-lt"/>
              </a:rPr>
              <a:t>XG Boost</a:t>
            </a:r>
            <a:r>
              <a:rPr kumimoji="0" lang="en-US" altLang="en-US" sz="2000" i="0" u="none" strike="noStrike" cap="none" normalizeH="0" baseline="0" dirty="0">
                <a:ln>
                  <a:noFill/>
                </a:ln>
                <a:solidFill>
                  <a:schemeClr val="tx1"/>
                </a:solidFill>
                <a:effectLst/>
                <a:latin typeface="+mn-lt"/>
              </a:rPr>
              <a:t> : Best for structured/tabular data, high performance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mn-lt"/>
              </a:rPr>
              <a:t>Decision Tree </a:t>
            </a:r>
            <a:r>
              <a:rPr lang="en-US" altLang="en-US" sz="2000" b="1" dirty="0">
                <a:solidFill>
                  <a:schemeClr val="tx1"/>
                </a:solidFill>
                <a:latin typeface="+mn-lt"/>
              </a:rPr>
              <a:t>:</a:t>
            </a:r>
            <a:r>
              <a:rPr kumimoji="0" lang="en-US" altLang="en-US" sz="2000" i="0" u="none" strike="noStrike" cap="none" normalizeH="0" baseline="0" dirty="0">
                <a:ln>
                  <a:noFill/>
                </a:ln>
                <a:solidFill>
                  <a:schemeClr val="tx1"/>
                </a:solidFill>
                <a:effectLst/>
                <a:latin typeface="+mn-lt"/>
              </a:rPr>
              <a:t> Easy to interpret and explain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i="0" u="none" strike="noStrike" cap="none" normalizeH="0" baseline="0" dirty="0">
              <a:ln>
                <a:noFill/>
              </a:ln>
              <a:solidFill>
                <a:schemeClr val="tx1"/>
              </a:solidFill>
              <a:effectLst/>
              <a:latin typeface="+mn-lt"/>
            </a:endParaRPr>
          </a:p>
        </p:txBody>
      </p:sp>
    </p:spTree>
    <p:extLst>
      <p:ext uri="{BB962C8B-B14F-4D97-AF65-F5344CB8AC3E}">
        <p14:creationId xmlns:p14="http://schemas.microsoft.com/office/powerpoint/2010/main" val="2883979024"/>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6A923FD-EE06-48F2-482E-88F38D200251}"/>
              </a:ext>
            </a:extLst>
          </p:cNvPr>
          <p:cNvSpPr>
            <a:spLocks noGrp="1"/>
          </p:cNvSpPr>
          <p:nvPr>
            <p:ph type="title"/>
          </p:nvPr>
        </p:nvSpPr>
        <p:spPr>
          <a:xfrm>
            <a:off x="399010" y="1375756"/>
            <a:ext cx="3108959" cy="4106487"/>
          </a:xfrm>
          <a:solidFill>
            <a:srgbClr val="1D1B58"/>
          </a:solidFill>
          <a:ln>
            <a:noFill/>
          </a:ln>
        </p:spPr>
        <p:style>
          <a:lnRef idx="0">
            <a:scrgbClr r="0" g="0" b="0"/>
          </a:lnRef>
          <a:fillRef idx="0">
            <a:scrgbClr r="0" g="0" b="0"/>
          </a:fillRef>
          <a:effectRef idx="0">
            <a:scrgbClr r="0" g="0" b="0"/>
          </a:effectRef>
          <a:fontRef idx="minor">
            <a:schemeClr val="lt1"/>
          </a:fontRef>
        </p:style>
        <p:txBody>
          <a:bodyPr>
            <a:normAutofit/>
          </a:bodyPr>
          <a:lstStyle/>
          <a:p>
            <a:r>
              <a:rPr lang="en-US" dirty="0"/>
              <a:t>Model Building &amp; Selection</a:t>
            </a:r>
            <a:endParaRPr lang="en-IN" dirty="0"/>
          </a:p>
        </p:txBody>
      </p:sp>
      <p:sp>
        <p:nvSpPr>
          <p:cNvPr id="2" name="Content Placeholder 4">
            <a:extLst>
              <a:ext uri="{FF2B5EF4-FFF2-40B4-BE49-F238E27FC236}">
                <a16:creationId xmlns:a16="http://schemas.microsoft.com/office/drawing/2014/main" id="{C50FD852-6A62-6759-79C5-4D9EFFF2D03F}"/>
              </a:ext>
            </a:extLst>
          </p:cNvPr>
          <p:cNvSpPr>
            <a:spLocks noGrp="1"/>
          </p:cNvSpPr>
          <p:nvPr>
            <p:ph idx="1"/>
          </p:nvPr>
        </p:nvSpPr>
        <p:spPr>
          <a:xfrm>
            <a:off x="4322618" y="532016"/>
            <a:ext cx="7470372" cy="5253642"/>
          </a:xfrm>
        </p:spPr>
        <p:txBody>
          <a:bodyPr>
            <a:normAutofit/>
          </a:bodyPr>
          <a:lstStyle/>
          <a:p>
            <a:pPr lvl="0"/>
            <a:r>
              <a:rPr lang="en-US" sz="2000" b="1" dirty="0"/>
              <a:t>Models Evaluated</a:t>
            </a:r>
          </a:p>
          <a:p>
            <a:pPr lvl="1"/>
            <a:r>
              <a:rPr lang="en-US" sz="2000" dirty="0"/>
              <a:t>Logistic Regression - with StandardScaler for feature scaling</a:t>
            </a:r>
          </a:p>
          <a:p>
            <a:pPr lvl="1"/>
            <a:r>
              <a:rPr lang="en-US" sz="2000" dirty="0"/>
              <a:t>Random Forest - </a:t>
            </a:r>
            <a:r>
              <a:rPr lang="en-US" sz="2000" dirty="0" err="1"/>
              <a:t>GridSearchCV</a:t>
            </a:r>
            <a:endParaRPr lang="en-US" sz="2000" dirty="0"/>
          </a:p>
          <a:p>
            <a:pPr lvl="1"/>
            <a:r>
              <a:rPr lang="en-US" sz="2000" dirty="0"/>
              <a:t>Gradient Boosting (XGBoost) - </a:t>
            </a:r>
            <a:r>
              <a:rPr lang="en-US" sz="2000" dirty="0" err="1"/>
              <a:t>GridSearchCV</a:t>
            </a:r>
            <a:endParaRPr lang="en-US" sz="2000" dirty="0"/>
          </a:p>
          <a:p>
            <a:pPr lvl="1"/>
            <a:r>
              <a:rPr lang="en-US" sz="2000" dirty="0"/>
              <a:t>Decision Tree - baseline model after SMOTE</a:t>
            </a:r>
          </a:p>
          <a:p>
            <a:pPr lvl="0"/>
            <a:r>
              <a:rPr lang="en-US" sz="2000" b="1" dirty="0"/>
              <a:t>Class Imbalance Handling - SMOTE</a:t>
            </a:r>
          </a:p>
          <a:p>
            <a:pPr lvl="1"/>
            <a:r>
              <a:rPr lang="en-US" sz="2000" dirty="0"/>
              <a:t>Dataset: 10,000 Legit vs 1,142 Fraud (heavily imbalanced)</a:t>
            </a:r>
          </a:p>
          <a:p>
            <a:pPr lvl="1"/>
            <a:r>
              <a:rPr lang="en-US" sz="2000" dirty="0"/>
              <a:t>SMOTE balanced to equal classes, All models retrained on SMOTE data for comparison</a:t>
            </a:r>
          </a:p>
          <a:p>
            <a:pPr lvl="0"/>
            <a:r>
              <a:rPr lang="en-US" sz="2000" b="1" dirty="0"/>
              <a:t>Hyperparameter Tuning</a:t>
            </a:r>
          </a:p>
          <a:p>
            <a:pPr lvl="1"/>
            <a:r>
              <a:rPr lang="en-US" sz="2000" dirty="0"/>
              <a:t>GridSearchCV with scoring = f1 used for RF, XGBoost, RF+SMOTE</a:t>
            </a:r>
          </a:p>
          <a:p>
            <a:pPr lvl="1"/>
            <a:r>
              <a:rPr lang="en-US" sz="2000" dirty="0"/>
              <a:t>F1 scoring chosen over accuracy due to class imbalance</a:t>
            </a:r>
          </a:p>
        </p:txBody>
      </p:sp>
    </p:spTree>
    <p:extLst>
      <p:ext uri="{BB962C8B-B14F-4D97-AF65-F5344CB8AC3E}">
        <p14:creationId xmlns:p14="http://schemas.microsoft.com/office/powerpoint/2010/main" val="1594365271"/>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17">
            <a:extLst>
              <a:ext uri="{FF2B5EF4-FFF2-40B4-BE49-F238E27FC236}">
                <a16:creationId xmlns:a16="http://schemas.microsoft.com/office/drawing/2014/main" id="{918FF084-9579-2DF3-8145-7EEF4FA5DDA6}"/>
              </a:ext>
            </a:extLst>
          </p:cNvPr>
          <p:cNvSpPr>
            <a:spLocks noGrp="1"/>
          </p:cNvSpPr>
          <p:nvPr>
            <p:ph type="title"/>
          </p:nvPr>
        </p:nvSpPr>
        <p:spPr/>
        <p:txBody>
          <a:bodyPr/>
          <a:lstStyle/>
          <a:p>
            <a:pPr algn="ctr"/>
            <a:r>
              <a:rPr lang="en-US" dirty="0">
                <a:solidFill>
                  <a:schemeClr val="accent1">
                    <a:lumMod val="50000"/>
                  </a:schemeClr>
                </a:solidFill>
              </a:rPr>
              <a:t>Model Performance Evaluation</a:t>
            </a:r>
          </a:p>
        </p:txBody>
      </p:sp>
      <p:sp>
        <p:nvSpPr>
          <p:cNvPr id="2" name="Content Placeholder 1">
            <a:extLst>
              <a:ext uri="{FF2B5EF4-FFF2-40B4-BE49-F238E27FC236}">
                <a16:creationId xmlns:a16="http://schemas.microsoft.com/office/drawing/2014/main" id="{C9565BAE-48A9-8300-4E79-87D77968413B}"/>
              </a:ext>
            </a:extLst>
          </p:cNvPr>
          <p:cNvSpPr>
            <a:spLocks noGrp="1"/>
          </p:cNvSpPr>
          <p:nvPr>
            <p:ph idx="1"/>
          </p:nvPr>
        </p:nvSpPr>
        <p:spPr>
          <a:xfrm>
            <a:off x="678884" y="1717937"/>
            <a:ext cx="10834234" cy="4398066"/>
          </a:xfrm>
        </p:spPr>
        <p:txBody>
          <a:bodyPr lIns="0" tIns="0" rIns="0" bIns="0" numCol="1">
            <a:normAutofit/>
          </a:bodyPr>
          <a:lstStyle/>
          <a:p>
            <a:pPr lvl="0"/>
            <a:r>
              <a:rPr lang="en-US" sz="2000" b="1" dirty="0"/>
              <a:t>Metrics Used</a:t>
            </a:r>
          </a:p>
          <a:p>
            <a:pPr lvl="1"/>
            <a:r>
              <a:rPr lang="en-US" sz="2000" dirty="0"/>
              <a:t>Precision, Recall, F1-Score, ROC-AUC, Confusion Matrix</a:t>
            </a:r>
            <a:endParaRPr lang="en-US" sz="2000" b="1" dirty="0"/>
          </a:p>
          <a:p>
            <a:pPr lvl="0"/>
            <a:r>
              <a:rPr lang="en-US" sz="2000" b="1" dirty="0"/>
              <a:t>Key Observation</a:t>
            </a:r>
          </a:p>
          <a:p>
            <a:pPr lvl="1"/>
            <a:r>
              <a:rPr lang="en-US" sz="2000" dirty="0"/>
              <a:t>Tree-based models outperformed Logistic Regression consistently</a:t>
            </a:r>
          </a:p>
          <a:p>
            <a:pPr lvl="1"/>
            <a:r>
              <a:rPr lang="en-US" sz="2000" dirty="0"/>
              <a:t>SMOTE improved recall across all models by addressing class imbalance</a:t>
            </a:r>
          </a:p>
          <a:p>
            <a:pPr lvl="0"/>
            <a:r>
              <a:rPr lang="en-US" sz="2000" b="1" dirty="0"/>
              <a:t>Best Model</a:t>
            </a:r>
          </a:p>
          <a:p>
            <a:pPr lvl="1"/>
            <a:r>
              <a:rPr lang="en-US" sz="2000" dirty="0"/>
              <a:t>Random Forest + SMOTE - ROC-AUC: 1.0000, F1-Score: 0.9997</a:t>
            </a:r>
          </a:p>
          <a:p>
            <a:pPr marL="0" indent="0">
              <a:buNone/>
            </a:pPr>
            <a:endParaRPr lang="en-IN" sz="2000" dirty="0"/>
          </a:p>
        </p:txBody>
      </p:sp>
    </p:spTree>
    <p:extLst>
      <p:ext uri="{BB962C8B-B14F-4D97-AF65-F5344CB8AC3E}">
        <p14:creationId xmlns:p14="http://schemas.microsoft.com/office/powerpoint/2010/main" val="2845992452"/>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36363502-55E6-AA84-91B6-1D0309F93BA5}"/>
              </a:ext>
            </a:extLst>
          </p:cNvPr>
          <p:cNvSpPr>
            <a:spLocks noGrp="1"/>
          </p:cNvSpPr>
          <p:nvPr>
            <p:ph type="body" idx="1"/>
          </p:nvPr>
        </p:nvSpPr>
        <p:spPr>
          <a:xfrm>
            <a:off x="604556" y="300695"/>
            <a:ext cx="5318693" cy="655349"/>
          </a:xfrm>
        </p:spPr>
        <p:txBody>
          <a:bodyPr/>
          <a:lstStyle/>
          <a:p>
            <a:pPr algn="ctr"/>
            <a:r>
              <a:rPr lang="en-US" dirty="0">
                <a:solidFill>
                  <a:schemeClr val="accent1">
                    <a:lumMod val="50000"/>
                  </a:schemeClr>
                </a:solidFill>
              </a:rPr>
              <a:t>Results Summary - Model Evaluation</a:t>
            </a:r>
          </a:p>
        </p:txBody>
      </p:sp>
      <p:sp>
        <p:nvSpPr>
          <p:cNvPr id="12" name="Text Placeholder 11">
            <a:extLst>
              <a:ext uri="{FF2B5EF4-FFF2-40B4-BE49-F238E27FC236}">
                <a16:creationId xmlns:a16="http://schemas.microsoft.com/office/drawing/2014/main" id="{7FF268A0-FA00-A3AF-98B7-B3BD9FD16EB0}"/>
              </a:ext>
            </a:extLst>
          </p:cNvPr>
          <p:cNvSpPr>
            <a:spLocks noGrp="1"/>
          </p:cNvSpPr>
          <p:nvPr>
            <p:ph type="body" sz="quarter" idx="3"/>
          </p:nvPr>
        </p:nvSpPr>
        <p:spPr>
          <a:xfrm>
            <a:off x="6516687" y="287065"/>
            <a:ext cx="5340914" cy="655349"/>
          </a:xfrm>
        </p:spPr>
        <p:txBody>
          <a:bodyPr/>
          <a:lstStyle/>
          <a:p>
            <a:pPr algn="ctr"/>
            <a:r>
              <a:rPr lang="en-US" dirty="0">
                <a:solidFill>
                  <a:schemeClr val="accent1">
                    <a:lumMod val="50000"/>
                  </a:schemeClr>
                </a:solidFill>
              </a:rPr>
              <a:t>Best Model - ROC curve</a:t>
            </a:r>
          </a:p>
        </p:txBody>
      </p:sp>
      <p:pic>
        <p:nvPicPr>
          <p:cNvPr id="5" name="Picture 4">
            <a:extLst>
              <a:ext uri="{FF2B5EF4-FFF2-40B4-BE49-F238E27FC236}">
                <a16:creationId xmlns:a16="http://schemas.microsoft.com/office/drawing/2014/main" id="{909CE366-AAF3-9E8C-A1BC-A209DD2C5F6C}"/>
              </a:ext>
            </a:extLst>
          </p:cNvPr>
          <p:cNvPicPr>
            <a:picLocks noChangeAspect="1"/>
          </p:cNvPicPr>
          <p:nvPr/>
        </p:nvPicPr>
        <p:blipFill>
          <a:blip r:embed="rId2"/>
          <a:stretch>
            <a:fillRect/>
          </a:stretch>
        </p:blipFill>
        <p:spPr>
          <a:xfrm>
            <a:off x="6786844" y="1444621"/>
            <a:ext cx="4800600" cy="4352925"/>
          </a:xfrm>
          <a:prstGeom prst="rect">
            <a:avLst/>
          </a:prstGeom>
        </p:spPr>
      </p:pic>
      <p:pic>
        <p:nvPicPr>
          <p:cNvPr id="7" name="Picture 6">
            <a:extLst>
              <a:ext uri="{FF2B5EF4-FFF2-40B4-BE49-F238E27FC236}">
                <a16:creationId xmlns:a16="http://schemas.microsoft.com/office/drawing/2014/main" id="{290D159D-6F6D-7221-8C19-5219EB2044AD}"/>
              </a:ext>
            </a:extLst>
          </p:cNvPr>
          <p:cNvPicPr>
            <a:picLocks noChangeAspect="1"/>
          </p:cNvPicPr>
          <p:nvPr/>
        </p:nvPicPr>
        <p:blipFill>
          <a:blip r:embed="rId3"/>
          <a:stretch>
            <a:fillRect/>
          </a:stretch>
        </p:blipFill>
        <p:spPr>
          <a:xfrm>
            <a:off x="265453" y="1697034"/>
            <a:ext cx="5996898" cy="3848101"/>
          </a:xfrm>
          <a:prstGeom prst="rect">
            <a:avLst/>
          </a:prstGeom>
        </p:spPr>
      </p:pic>
    </p:spTree>
    <p:extLst>
      <p:ext uri="{BB962C8B-B14F-4D97-AF65-F5344CB8AC3E}">
        <p14:creationId xmlns:p14="http://schemas.microsoft.com/office/powerpoint/2010/main" val="2587376255"/>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887D690-7C7E-2421-B00A-9BD0E54ACFC7}"/>
              </a:ext>
            </a:extLst>
          </p:cNvPr>
          <p:cNvSpPr>
            <a:spLocks noGrp="1"/>
          </p:cNvSpPr>
          <p:nvPr>
            <p:ph type="title"/>
          </p:nvPr>
        </p:nvSpPr>
        <p:spPr>
          <a:xfrm>
            <a:off x="678882" y="349666"/>
            <a:ext cx="6687118" cy="612775"/>
          </a:xfrm>
        </p:spPr>
        <p:txBody>
          <a:bodyPr/>
          <a:lstStyle/>
          <a:p>
            <a:r>
              <a:rPr lang="en-US" dirty="0">
                <a:solidFill>
                  <a:schemeClr val="accent1">
                    <a:lumMod val="50000"/>
                  </a:schemeClr>
                </a:solidFill>
              </a:rPr>
              <a:t>Financial Impact Analysis</a:t>
            </a:r>
          </a:p>
        </p:txBody>
      </p:sp>
      <p:sp>
        <p:nvSpPr>
          <p:cNvPr id="9" name="Content Placeholder 4">
            <a:extLst>
              <a:ext uri="{FF2B5EF4-FFF2-40B4-BE49-F238E27FC236}">
                <a16:creationId xmlns:a16="http://schemas.microsoft.com/office/drawing/2014/main" id="{666A08BC-72F7-04BA-CAAB-E1D8FEA3CC05}"/>
              </a:ext>
            </a:extLst>
          </p:cNvPr>
          <p:cNvSpPr>
            <a:spLocks noGrp="1"/>
          </p:cNvSpPr>
          <p:nvPr>
            <p:ph idx="1"/>
          </p:nvPr>
        </p:nvSpPr>
        <p:spPr>
          <a:xfrm>
            <a:off x="527049" y="1216025"/>
            <a:ext cx="7634817" cy="5095875"/>
          </a:xfrm>
        </p:spPr>
        <p:txBody>
          <a:bodyPr>
            <a:normAutofit/>
          </a:bodyPr>
          <a:lstStyle/>
          <a:p>
            <a:pPr lvl="0"/>
            <a:r>
              <a:rPr lang="en-US" sz="2000" b="1" dirty="0"/>
              <a:t>Model Used: Random Forest</a:t>
            </a:r>
          </a:p>
          <a:p>
            <a:pPr lvl="1"/>
            <a:r>
              <a:rPr lang="en-US" sz="2000" dirty="0"/>
              <a:t>TP (Fraud Caught): 227 out of 228</a:t>
            </a:r>
          </a:p>
          <a:p>
            <a:pPr lvl="1"/>
            <a:r>
              <a:rPr lang="en-US" sz="2000" dirty="0"/>
              <a:t>FP (False Alarms): 0</a:t>
            </a:r>
          </a:p>
          <a:p>
            <a:pPr lvl="1"/>
            <a:r>
              <a:rPr lang="en-US" sz="2000" dirty="0"/>
              <a:t>FN (Fraud Missed): 1</a:t>
            </a:r>
          </a:p>
          <a:p>
            <a:pPr lvl="0"/>
            <a:r>
              <a:rPr lang="en-US" sz="2000" b="1" dirty="0"/>
              <a:t>Financial Calculations</a:t>
            </a:r>
          </a:p>
          <a:p>
            <a:pPr lvl="1"/>
            <a:r>
              <a:rPr lang="en-US" sz="2000" dirty="0"/>
              <a:t>Average Fraud Transaction Amount: 1,192,628.93</a:t>
            </a:r>
          </a:p>
          <a:p>
            <a:pPr lvl="1"/>
            <a:r>
              <a:rPr lang="en-US" sz="2000" dirty="0"/>
              <a:t>Revenue Saved (TP x Avg Amount): 270,726,767.58</a:t>
            </a:r>
          </a:p>
          <a:p>
            <a:pPr lvl="1"/>
            <a:r>
              <a:rPr lang="en-US" sz="2000" dirty="0"/>
              <a:t>Loss from Missed Fraud (FN x Avg Amount): 1,192,628.93</a:t>
            </a:r>
          </a:p>
          <a:p>
            <a:pPr lvl="1"/>
            <a:r>
              <a:rPr lang="en-US" sz="2000" dirty="0"/>
              <a:t>Investigation Cost (FP x 500): 0.00</a:t>
            </a:r>
          </a:p>
          <a:p>
            <a:pPr lvl="0"/>
            <a:r>
              <a:rPr lang="en-US" sz="2000" b="1" dirty="0"/>
              <a:t>Net Profit: </a:t>
            </a:r>
            <a:r>
              <a:rPr lang="en-US" sz="2000" b="1" i="1" dirty="0"/>
              <a:t>269,534,138.65</a:t>
            </a:r>
          </a:p>
          <a:p>
            <a:pPr lvl="0"/>
            <a:r>
              <a:rPr lang="en-US" sz="2000" b="1" dirty="0"/>
              <a:t>Key Insight</a:t>
            </a:r>
          </a:p>
          <a:p>
            <a:pPr lvl="1"/>
            <a:r>
              <a:rPr lang="en-US" sz="2000" dirty="0"/>
              <a:t>Model saves approximately 270 million by catching 99.5% of all fraudulent transactions</a:t>
            </a:r>
          </a:p>
          <a:p>
            <a:pPr lvl="1"/>
            <a:r>
              <a:rPr lang="en-US" sz="2000" dirty="0"/>
              <a:t>Zero false alarms means zero unnecessary investigation costs</a:t>
            </a:r>
          </a:p>
        </p:txBody>
      </p:sp>
    </p:spTree>
    <p:extLst>
      <p:ext uri="{BB962C8B-B14F-4D97-AF65-F5344CB8AC3E}">
        <p14:creationId xmlns:p14="http://schemas.microsoft.com/office/powerpoint/2010/main" val="4010813806"/>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3C1B129-3650-2A34-CECE-3F2F20BC6C16}"/>
              </a:ext>
            </a:extLst>
          </p:cNvPr>
          <p:cNvPicPr>
            <a:picLocks noChangeAspect="1"/>
          </p:cNvPicPr>
          <p:nvPr/>
        </p:nvPicPr>
        <p:blipFill>
          <a:blip r:embed="rId2"/>
          <a:stretch>
            <a:fillRect/>
          </a:stretch>
        </p:blipFill>
        <p:spPr>
          <a:xfrm>
            <a:off x="5587195" y="2000513"/>
            <a:ext cx="6262964" cy="3431117"/>
          </a:xfrm>
          <a:prstGeom prst="rect">
            <a:avLst/>
          </a:prstGeom>
        </p:spPr>
      </p:pic>
      <p:pic>
        <p:nvPicPr>
          <p:cNvPr id="7" name="Picture 6">
            <a:extLst>
              <a:ext uri="{FF2B5EF4-FFF2-40B4-BE49-F238E27FC236}">
                <a16:creationId xmlns:a16="http://schemas.microsoft.com/office/drawing/2014/main" id="{5D6AF9F3-79B1-A944-3E5D-A6D34803B63A}"/>
              </a:ext>
            </a:extLst>
          </p:cNvPr>
          <p:cNvPicPr>
            <a:picLocks noChangeAspect="1"/>
          </p:cNvPicPr>
          <p:nvPr/>
        </p:nvPicPr>
        <p:blipFill>
          <a:blip r:embed="rId3"/>
          <a:stretch>
            <a:fillRect/>
          </a:stretch>
        </p:blipFill>
        <p:spPr>
          <a:xfrm>
            <a:off x="690419" y="2157531"/>
            <a:ext cx="4784034" cy="2964920"/>
          </a:xfrm>
          <a:prstGeom prst="rect">
            <a:avLst/>
          </a:prstGeom>
        </p:spPr>
      </p:pic>
      <p:sp>
        <p:nvSpPr>
          <p:cNvPr id="9" name="Text Placeholder 8">
            <a:extLst>
              <a:ext uri="{FF2B5EF4-FFF2-40B4-BE49-F238E27FC236}">
                <a16:creationId xmlns:a16="http://schemas.microsoft.com/office/drawing/2014/main" id="{A1C6BC1C-7B0E-7F6F-1014-8E8CB046BBD1}"/>
              </a:ext>
            </a:extLst>
          </p:cNvPr>
          <p:cNvSpPr>
            <a:spLocks noGrp="1"/>
          </p:cNvSpPr>
          <p:nvPr>
            <p:ph type="body" idx="1"/>
          </p:nvPr>
        </p:nvSpPr>
        <p:spPr>
          <a:xfrm>
            <a:off x="650762" y="730601"/>
            <a:ext cx="4863348" cy="655349"/>
          </a:xfrm>
        </p:spPr>
        <p:txBody>
          <a:bodyPr/>
          <a:lstStyle/>
          <a:p>
            <a:r>
              <a:rPr lang="en-US" dirty="0">
                <a:solidFill>
                  <a:schemeClr val="accent1">
                    <a:lumMod val="50000"/>
                  </a:schemeClr>
                </a:solidFill>
              </a:rPr>
              <a:t>Financial Calculations</a:t>
            </a:r>
          </a:p>
        </p:txBody>
      </p:sp>
      <p:sp>
        <p:nvSpPr>
          <p:cNvPr id="11" name="Text Placeholder 10">
            <a:extLst>
              <a:ext uri="{FF2B5EF4-FFF2-40B4-BE49-F238E27FC236}">
                <a16:creationId xmlns:a16="http://schemas.microsoft.com/office/drawing/2014/main" id="{0A7D0127-D310-3EE9-C853-681A5BB34AA3}"/>
              </a:ext>
            </a:extLst>
          </p:cNvPr>
          <p:cNvSpPr>
            <a:spLocks noGrp="1"/>
          </p:cNvSpPr>
          <p:nvPr>
            <p:ph type="body" sz="quarter" idx="3"/>
          </p:nvPr>
        </p:nvSpPr>
        <p:spPr>
          <a:xfrm>
            <a:off x="6096000" y="730601"/>
            <a:ext cx="5754159" cy="655349"/>
          </a:xfrm>
        </p:spPr>
        <p:txBody>
          <a:bodyPr/>
          <a:lstStyle/>
          <a:p>
            <a:pPr algn="ctr"/>
            <a:r>
              <a:rPr lang="en-US" dirty="0">
                <a:solidFill>
                  <a:schemeClr val="accent1">
                    <a:lumMod val="50000"/>
                  </a:schemeClr>
                </a:solidFill>
              </a:rPr>
              <a:t>Financial Impact - Chart</a:t>
            </a:r>
          </a:p>
        </p:txBody>
      </p:sp>
    </p:spTree>
    <p:extLst>
      <p:ext uri="{BB962C8B-B14F-4D97-AF65-F5344CB8AC3E}">
        <p14:creationId xmlns:p14="http://schemas.microsoft.com/office/powerpoint/2010/main" val="474154108"/>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D751A-6C60-A487-8656-41869B66821A}"/>
              </a:ext>
            </a:extLst>
          </p:cNvPr>
          <p:cNvSpPr>
            <a:spLocks noGrp="1"/>
          </p:cNvSpPr>
          <p:nvPr>
            <p:ph type="title"/>
          </p:nvPr>
        </p:nvSpPr>
        <p:spPr>
          <a:xfrm>
            <a:off x="0" y="0"/>
            <a:ext cx="12192000" cy="612775"/>
          </a:xfrm>
        </p:spPr>
        <p:txBody>
          <a:bodyPr>
            <a:normAutofit/>
          </a:bodyPr>
          <a:lstStyle/>
          <a:p>
            <a:pPr algn="ctr"/>
            <a:r>
              <a:rPr lang="en-US" sz="2400" dirty="0">
                <a:solidFill>
                  <a:schemeClr val="accent1">
                    <a:lumMod val="50000"/>
                  </a:schemeClr>
                </a:solidFill>
              </a:rPr>
              <a:t>Built an interactive Power BI dashboard to visualize fraud patterns and model performance</a:t>
            </a:r>
          </a:p>
        </p:txBody>
      </p:sp>
      <p:pic>
        <p:nvPicPr>
          <p:cNvPr id="4" name="Picture 3">
            <a:extLst>
              <a:ext uri="{FF2B5EF4-FFF2-40B4-BE49-F238E27FC236}">
                <a16:creationId xmlns:a16="http://schemas.microsoft.com/office/drawing/2014/main" id="{3DE1EB21-1416-40AF-B4DD-A4674B2B5A4A}"/>
              </a:ext>
            </a:extLst>
          </p:cNvPr>
          <p:cNvPicPr>
            <a:picLocks noChangeAspect="1"/>
          </p:cNvPicPr>
          <p:nvPr/>
        </p:nvPicPr>
        <p:blipFill>
          <a:blip r:embed="rId2"/>
          <a:stretch>
            <a:fillRect/>
          </a:stretch>
        </p:blipFill>
        <p:spPr>
          <a:xfrm>
            <a:off x="1204686" y="674461"/>
            <a:ext cx="9550400" cy="5346879"/>
          </a:xfrm>
          <a:prstGeom prst="rect">
            <a:avLst/>
          </a:prstGeom>
        </p:spPr>
      </p:pic>
    </p:spTree>
    <p:extLst>
      <p:ext uri="{BB962C8B-B14F-4D97-AF65-F5344CB8AC3E}">
        <p14:creationId xmlns:p14="http://schemas.microsoft.com/office/powerpoint/2010/main" val="3398604462"/>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B0D39EA-24BB-9344-C980-1B1B6808C92E}"/>
              </a:ext>
            </a:extLst>
          </p:cNvPr>
          <p:cNvPicPr>
            <a:picLocks noChangeAspect="1"/>
          </p:cNvPicPr>
          <p:nvPr/>
        </p:nvPicPr>
        <p:blipFill>
          <a:blip r:embed="rId2"/>
          <a:stretch>
            <a:fillRect/>
          </a:stretch>
        </p:blipFill>
        <p:spPr>
          <a:xfrm>
            <a:off x="787451" y="328613"/>
            <a:ext cx="10371086" cy="5691187"/>
          </a:xfrm>
          <a:prstGeom prst="rect">
            <a:avLst/>
          </a:prstGeom>
        </p:spPr>
      </p:pic>
    </p:spTree>
    <p:extLst>
      <p:ext uri="{BB962C8B-B14F-4D97-AF65-F5344CB8AC3E}">
        <p14:creationId xmlns:p14="http://schemas.microsoft.com/office/powerpoint/2010/main" val="2638664210"/>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FB533F-40A1-5859-9E98-8AC8D66CF984}"/>
              </a:ext>
            </a:extLst>
          </p:cNvPr>
          <p:cNvPicPr>
            <a:picLocks noChangeAspect="1"/>
          </p:cNvPicPr>
          <p:nvPr/>
        </p:nvPicPr>
        <p:blipFill>
          <a:blip r:embed="rId2"/>
          <a:stretch>
            <a:fillRect/>
          </a:stretch>
        </p:blipFill>
        <p:spPr>
          <a:xfrm>
            <a:off x="1172929" y="271463"/>
            <a:ext cx="10138008" cy="5653087"/>
          </a:xfrm>
          <a:prstGeom prst="rect">
            <a:avLst/>
          </a:prstGeom>
        </p:spPr>
      </p:pic>
    </p:spTree>
    <p:extLst>
      <p:ext uri="{BB962C8B-B14F-4D97-AF65-F5344CB8AC3E}">
        <p14:creationId xmlns:p14="http://schemas.microsoft.com/office/powerpoint/2010/main" val="4116923596"/>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C31764-ADBD-F2FC-3CAE-1544606D11EC}"/>
              </a:ext>
            </a:extLst>
          </p:cNvPr>
          <p:cNvPicPr>
            <a:picLocks noChangeAspect="1"/>
          </p:cNvPicPr>
          <p:nvPr/>
        </p:nvPicPr>
        <p:blipFill>
          <a:blip r:embed="rId2"/>
          <a:stretch>
            <a:fillRect/>
          </a:stretch>
        </p:blipFill>
        <p:spPr>
          <a:xfrm>
            <a:off x="987291" y="228600"/>
            <a:ext cx="10217418" cy="5734049"/>
          </a:xfrm>
          <a:prstGeom prst="rect">
            <a:avLst/>
          </a:prstGeom>
        </p:spPr>
      </p:pic>
    </p:spTree>
    <p:extLst>
      <p:ext uri="{BB962C8B-B14F-4D97-AF65-F5344CB8AC3E}">
        <p14:creationId xmlns:p14="http://schemas.microsoft.com/office/powerpoint/2010/main" val="4211756890"/>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C65A5206-9990-ECD3-7FF9-5FA8E09F8451}"/>
              </a:ext>
            </a:extLst>
          </p:cNvPr>
          <p:cNvSpPr txBox="1">
            <a:spLocks/>
          </p:cNvSpPr>
          <p:nvPr/>
        </p:nvSpPr>
        <p:spPr>
          <a:xfrm>
            <a:off x="626533" y="1422400"/>
            <a:ext cx="10972026" cy="4470400"/>
          </a:xfrm>
          <a:prstGeom prst="rect">
            <a:avLst/>
          </a:prstGeom>
        </p:spPr>
        <p:txBody>
          <a:bodyPr numCol="1"/>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10000"/>
                  </a:schemeClr>
                </a:solidFill>
                <a:latin typeface="Calibri" panose="020F0502020204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10000"/>
                  </a:schemeClr>
                </a:solidFill>
                <a:latin typeface="Calibri" panose="020F0502020204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10000"/>
                  </a:schemeClr>
                </a:solidFill>
                <a:latin typeface="Calibri" panose="020F0502020204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10000"/>
                  </a:schemeClr>
                </a:solidFill>
                <a:latin typeface="Calibri" panose="020F0502020204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sz="1800" b="1" dirty="0"/>
              <a:t>Key Findings</a:t>
            </a:r>
          </a:p>
          <a:p>
            <a:pPr lvl="1"/>
            <a:r>
              <a:rPr lang="en-US" sz="1800" dirty="0"/>
              <a:t>Fraud exclusively occurs in TRANSFER and CASH_OUT transactions</a:t>
            </a:r>
          </a:p>
          <a:p>
            <a:pPr lvl="1"/>
            <a:r>
              <a:rPr lang="en-US" sz="1800" dirty="0"/>
              <a:t>99.2% of fraud cases drain the origin account to zero</a:t>
            </a:r>
          </a:p>
          <a:p>
            <a:pPr lvl="1"/>
            <a:r>
              <a:rPr lang="en-US" sz="1800" dirty="0"/>
              <a:t>Feature engineering (isOriginDrained, errorBalanceOrig) was critical to model performance</a:t>
            </a:r>
          </a:p>
          <a:p>
            <a:pPr lvl="0"/>
            <a:r>
              <a:rPr lang="en-US" sz="1800" b="1" dirty="0"/>
              <a:t>Best Model</a:t>
            </a:r>
          </a:p>
          <a:p>
            <a:pPr lvl="1"/>
            <a:r>
              <a:rPr lang="en-US" sz="1800" dirty="0"/>
              <a:t>Random Forest + SMOTE — ROC-AUC: 1.0000, F1-Score: 0.9997</a:t>
            </a:r>
          </a:p>
          <a:p>
            <a:pPr lvl="1"/>
            <a:r>
              <a:rPr lang="en-US" sz="1800" dirty="0"/>
              <a:t>Catches 227 out of 228 fraudulent transactions with zero false alarms</a:t>
            </a:r>
            <a:endParaRPr lang="en-US" sz="2000" b="1" dirty="0"/>
          </a:p>
          <a:p>
            <a:r>
              <a:rPr lang="en-US" sz="2000" b="1" dirty="0"/>
              <a:t>Recommendation</a:t>
            </a:r>
          </a:p>
          <a:p>
            <a:pPr lvl="1"/>
            <a:r>
              <a:rPr lang="en-US" sz="2000" dirty="0"/>
              <a:t>From this analysis, I found that Random Forest + SMOTE performed best overall</a:t>
            </a:r>
          </a:p>
          <a:p>
            <a:pPr lvl="1"/>
            <a:r>
              <a:rPr lang="en-US" sz="2000" dirty="0"/>
              <a:t>This would be the most effective choice for real-world fraud detection</a:t>
            </a:r>
          </a:p>
          <a:p>
            <a:pPr lvl="1"/>
            <a:r>
              <a:rPr lang="en-US" sz="2000" dirty="0"/>
              <a:t>Due to its perfect precision, near-perfect recall and highest F1-Score</a:t>
            </a:r>
          </a:p>
        </p:txBody>
      </p:sp>
      <p:sp>
        <p:nvSpPr>
          <p:cNvPr id="3" name="Title 3">
            <a:extLst>
              <a:ext uri="{FF2B5EF4-FFF2-40B4-BE49-F238E27FC236}">
                <a16:creationId xmlns:a16="http://schemas.microsoft.com/office/drawing/2014/main" id="{680E3947-96BF-78A3-1998-95D23B07A3E4}"/>
              </a:ext>
            </a:extLst>
          </p:cNvPr>
          <p:cNvSpPr txBox="1">
            <a:spLocks/>
          </p:cNvSpPr>
          <p:nvPr/>
        </p:nvSpPr>
        <p:spPr>
          <a:xfrm>
            <a:off x="678883" y="502066"/>
            <a:ext cx="10834234" cy="612775"/>
          </a:xfrm>
          <a:prstGeom prst="rect">
            <a:avLst/>
          </a:prstGeom>
        </p:spPr>
        <p:txBody>
          <a:bodyPr/>
          <a:lstStyle>
            <a:lvl1pPr algn="l" defTabSz="914400" rtl="0" eaLnBrk="1" latinLnBrk="0" hangingPunct="1">
              <a:lnSpc>
                <a:spcPct val="90000"/>
              </a:lnSpc>
              <a:spcBef>
                <a:spcPct val="0"/>
              </a:spcBef>
              <a:buNone/>
              <a:defRPr sz="3400" b="1" kern="1200">
                <a:solidFill>
                  <a:schemeClr val="tx1"/>
                </a:solidFill>
                <a:latin typeface="Calibri" panose="020F0502020204030204" pitchFamily="34" charset="0"/>
                <a:ea typeface="+mj-ea"/>
                <a:cs typeface="+mj-cs"/>
              </a:defRPr>
            </a:lvl1pPr>
          </a:lstStyle>
          <a:p>
            <a:pPr algn="ctr"/>
            <a:r>
              <a:rPr lang="en-US" dirty="0">
                <a:solidFill>
                  <a:schemeClr val="accent1">
                    <a:lumMod val="50000"/>
                  </a:schemeClr>
                </a:solidFill>
              </a:rPr>
              <a:t>Conclusion </a:t>
            </a:r>
          </a:p>
        </p:txBody>
      </p:sp>
    </p:spTree>
    <p:extLst>
      <p:ext uri="{BB962C8B-B14F-4D97-AF65-F5344CB8AC3E}">
        <p14:creationId xmlns:p14="http://schemas.microsoft.com/office/powerpoint/2010/main" val="196053127"/>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4763A9-19A9-3794-DC88-085894D5C51B}"/>
              </a:ext>
            </a:extLst>
          </p:cNvPr>
          <p:cNvSpPr txBox="1"/>
          <p:nvPr/>
        </p:nvSpPr>
        <p:spPr>
          <a:xfrm>
            <a:off x="600076" y="1414462"/>
            <a:ext cx="10151051" cy="4662815"/>
          </a:xfrm>
          <a:prstGeom prst="rect">
            <a:avLst/>
          </a:prstGeom>
          <a:noFill/>
        </p:spPr>
        <p:txBody>
          <a:bodyPr wrap="square">
            <a:spAutoFit/>
          </a:bodyPr>
          <a:lstStyle/>
          <a:p>
            <a:pPr>
              <a:lnSpc>
                <a:spcPct val="150000"/>
              </a:lnSpc>
            </a:pPr>
            <a:r>
              <a:rPr lang="en-US" b="1" dirty="0"/>
              <a:t>1. What is the model's precision and accuracy in detecting fraudulent transactions?</a:t>
            </a:r>
            <a:endParaRPr lang="en-US" dirty="0"/>
          </a:p>
          <a:p>
            <a:pPr marL="285750" indent="-285750">
              <a:buFont typeface="Arial" panose="020B0604020202020204" pitchFamily="34" charset="0"/>
              <a:buChar char="•"/>
            </a:pPr>
            <a:r>
              <a:rPr lang="en-US" dirty="0"/>
              <a:t>Random Forest + SMOTE achieved perfect Precision of 1.00</a:t>
            </a:r>
          </a:p>
          <a:p>
            <a:pPr marL="285750" indent="-285750">
              <a:buFont typeface="Arial" panose="020B0604020202020204" pitchFamily="34" charset="0"/>
              <a:buChar char="•"/>
            </a:pPr>
            <a:r>
              <a:rPr lang="en-US" dirty="0"/>
              <a:t>Overall accuracy of 100% on test data</a:t>
            </a:r>
          </a:p>
          <a:p>
            <a:pPr marL="285750" indent="-285750">
              <a:buFont typeface="Arial" panose="020B0604020202020204" pitchFamily="34" charset="0"/>
              <a:buChar char="•"/>
            </a:pPr>
            <a:r>
              <a:rPr lang="en-US" dirty="0"/>
              <a:t>Every flagged transaction was genuinely fraudulent with zero false alarms</a:t>
            </a:r>
            <a:br>
              <a:rPr lang="en-US" dirty="0"/>
            </a:br>
            <a:endParaRPr lang="en-US" dirty="0"/>
          </a:p>
          <a:p>
            <a:pPr>
              <a:lnSpc>
                <a:spcPct val="150000"/>
              </a:lnSpc>
            </a:pPr>
            <a:r>
              <a:rPr lang="en-US" b="1" dirty="0"/>
              <a:t>2. How reliable is the model in classifying transactions as legitimate or fraudulent?</a:t>
            </a:r>
            <a:endParaRPr lang="en-US" dirty="0"/>
          </a:p>
          <a:p>
            <a:pPr marL="285750" indent="-285750">
              <a:buFont typeface="Arial" panose="020B0604020202020204" pitchFamily="34" charset="0"/>
              <a:buChar char="•"/>
            </a:pPr>
            <a:r>
              <a:rPr lang="en-US" dirty="0"/>
              <a:t>ROC-AUC score of 1.0000 confirms near-perfect reliability</a:t>
            </a:r>
          </a:p>
          <a:p>
            <a:pPr marL="285750" indent="-285750">
              <a:buFont typeface="Arial" panose="020B0604020202020204" pitchFamily="34" charset="0"/>
              <a:buChar char="•"/>
            </a:pPr>
            <a:r>
              <a:rPr lang="en-US" dirty="0"/>
              <a:t>F1-Score of 0.9997 — best among all 6 models evaluated</a:t>
            </a:r>
          </a:p>
          <a:p>
            <a:pPr marL="285750" indent="-285750">
              <a:buFont typeface="Arial" panose="020B0604020202020204" pitchFamily="34" charset="0"/>
              <a:buChar char="•"/>
            </a:pPr>
            <a:r>
              <a:rPr lang="en-US" dirty="0"/>
              <a:t>Correctly identified 227 out of 228 fraud cases in test set</a:t>
            </a:r>
          </a:p>
          <a:p>
            <a:endParaRPr lang="en-US" dirty="0"/>
          </a:p>
          <a:p>
            <a:pPr>
              <a:lnSpc>
                <a:spcPct val="150000"/>
              </a:lnSpc>
            </a:pPr>
            <a:r>
              <a:rPr lang="en-US" b="1" dirty="0"/>
              <a:t>3. What are the potential losses due to model errors?</a:t>
            </a:r>
            <a:endParaRPr lang="en-US" dirty="0"/>
          </a:p>
          <a:p>
            <a:pPr marL="285750" indent="-285750">
              <a:buFont typeface="Arial" panose="020B0604020202020204" pitchFamily="34" charset="0"/>
              <a:buChar char="•"/>
            </a:pPr>
            <a:r>
              <a:rPr lang="en-US" dirty="0"/>
              <a:t>Only 1 fraud case missed — loss of ₹11.92 Lakhs</a:t>
            </a:r>
          </a:p>
          <a:p>
            <a:pPr marL="285750" indent="-285750">
              <a:buFont typeface="Arial" panose="020B0604020202020204" pitchFamily="34" charset="0"/>
              <a:buChar char="•"/>
            </a:pPr>
            <a:r>
              <a:rPr lang="en-US" dirty="0"/>
              <a:t>Zero false positives — no unnecessary investigation costs</a:t>
            </a:r>
          </a:p>
          <a:p>
            <a:pPr marL="285750" indent="-285750">
              <a:buFont typeface="Arial" panose="020B0604020202020204" pitchFamily="34" charset="0"/>
              <a:buChar char="•"/>
            </a:pPr>
            <a:r>
              <a:rPr lang="en-US" dirty="0"/>
              <a:t>Loss is only 0.44% of ₹27.07 Crore revenue saved</a:t>
            </a:r>
          </a:p>
          <a:p>
            <a:endParaRPr lang="en-US" dirty="0"/>
          </a:p>
        </p:txBody>
      </p:sp>
      <p:sp>
        <p:nvSpPr>
          <p:cNvPr id="4" name="Title 3">
            <a:extLst>
              <a:ext uri="{FF2B5EF4-FFF2-40B4-BE49-F238E27FC236}">
                <a16:creationId xmlns:a16="http://schemas.microsoft.com/office/drawing/2014/main" id="{405BE9B7-2ED4-C860-4227-46F6D1DF2169}"/>
              </a:ext>
            </a:extLst>
          </p:cNvPr>
          <p:cNvSpPr>
            <a:spLocks noGrp="1"/>
          </p:cNvSpPr>
          <p:nvPr>
            <p:ph type="title"/>
          </p:nvPr>
        </p:nvSpPr>
        <p:spPr>
          <a:xfrm>
            <a:off x="678884" y="474335"/>
            <a:ext cx="10834234" cy="612775"/>
          </a:xfrm>
        </p:spPr>
        <p:txBody>
          <a:bodyPr/>
          <a:lstStyle/>
          <a:p>
            <a:r>
              <a:rPr lang="en-US" dirty="0">
                <a:solidFill>
                  <a:schemeClr val="accent1">
                    <a:lumMod val="50000"/>
                  </a:schemeClr>
                </a:solidFill>
              </a:rPr>
              <a:t>Business Questions:</a:t>
            </a:r>
          </a:p>
        </p:txBody>
      </p:sp>
    </p:spTree>
    <p:extLst>
      <p:ext uri="{BB962C8B-B14F-4D97-AF65-F5344CB8AC3E}">
        <p14:creationId xmlns:p14="http://schemas.microsoft.com/office/powerpoint/2010/main" val="558547065"/>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F80C857-4384-387E-D3B0-A675AA2C932C}"/>
              </a:ext>
            </a:extLst>
          </p:cNvPr>
          <p:cNvSpPr>
            <a:spLocks noGrp="1"/>
          </p:cNvSpPr>
          <p:nvPr>
            <p:ph type="title"/>
          </p:nvPr>
        </p:nvSpPr>
        <p:spPr/>
        <p:txBody>
          <a:bodyPr>
            <a:normAutofit/>
          </a:bodyPr>
          <a:lstStyle/>
          <a:p>
            <a:br>
              <a:rPr lang="en-IN" dirty="0"/>
            </a:br>
            <a:r>
              <a:rPr lang="en-IN" dirty="0"/>
              <a:t>Questions ?</a:t>
            </a:r>
          </a:p>
        </p:txBody>
      </p:sp>
    </p:spTree>
    <p:extLst>
      <p:ext uri="{BB962C8B-B14F-4D97-AF65-F5344CB8AC3E}">
        <p14:creationId xmlns:p14="http://schemas.microsoft.com/office/powerpoint/2010/main" val="117386209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1DBBFEC-17D0-1D96-6CDC-0E5B94EF077B}"/>
              </a:ext>
            </a:extLst>
          </p:cNvPr>
          <p:cNvSpPr/>
          <p:nvPr/>
        </p:nvSpPr>
        <p:spPr>
          <a:xfrm>
            <a:off x="0" y="2091872"/>
            <a:ext cx="12192000" cy="17653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6600" b="1" dirty="0">
                <a:latin typeface="Calibri" panose="020F0502020204030204" pitchFamily="34" charset="0"/>
              </a:rPr>
              <a:t>Thank You!</a:t>
            </a:r>
            <a:endParaRPr lang="en-IN" sz="6600" b="1" dirty="0">
              <a:latin typeface="Calibri" panose="020F0502020204030204" pitchFamily="34" charset="0"/>
            </a:endParaRPr>
          </a:p>
        </p:txBody>
      </p:sp>
    </p:spTree>
    <p:extLst>
      <p:ext uri="{BB962C8B-B14F-4D97-AF65-F5344CB8AC3E}">
        <p14:creationId xmlns:p14="http://schemas.microsoft.com/office/powerpoint/2010/main" val="243837157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BIA Template">
  <a:themeElements>
    <a:clrScheme name="Custom 4">
      <a:dk1>
        <a:srgbClr val="161A3E"/>
      </a:dk1>
      <a:lt1>
        <a:sysClr val="window" lastClr="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7185</TotalTime>
  <Words>842</Words>
  <Application>Microsoft Office PowerPoint</Application>
  <PresentationFormat>Widescreen</PresentationFormat>
  <Paragraphs>132</Paragraphs>
  <Slides>22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BIA Template</vt:lpstr>
      <vt:lpstr>PowerPoint Presentation</vt:lpstr>
      <vt:lpstr>Agenda</vt:lpstr>
      <vt:lpstr>Project Overview</vt:lpstr>
      <vt:lpstr>Dataset Overview &amp; EDA</vt:lpstr>
      <vt:lpstr>Correlation Heatmap</vt:lpstr>
      <vt:lpstr>PowerPoint Presentation</vt:lpstr>
      <vt:lpstr>Amount Distribution by Fraud — Boxplot </vt:lpstr>
      <vt:lpstr>Feature Engineering</vt:lpstr>
      <vt:lpstr>Why These Models ?</vt:lpstr>
      <vt:lpstr>Model Building &amp; Selection</vt:lpstr>
      <vt:lpstr>Model Performance Evaluation</vt:lpstr>
      <vt:lpstr>PowerPoint Presentation</vt:lpstr>
      <vt:lpstr>Financial Impact Analysis</vt:lpstr>
      <vt:lpstr>PowerPoint Presentation</vt:lpstr>
      <vt:lpstr>Built an interactive Power BI dashboard to visualize fraud patterns and model performance</vt:lpstr>
      <vt:lpstr>PowerPoint Presentation</vt:lpstr>
      <vt:lpstr>PowerPoint Presentation</vt:lpstr>
      <vt:lpstr>PowerPoint Presentation</vt:lpstr>
      <vt:lpstr>PowerPoint Presentation</vt:lpstr>
      <vt:lpstr>Business Questions:</vt:lpstr>
      <vt:lpstr>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Aayush Shah</dc:creator>
  <cp:lastModifiedBy>Devyani Yadav</cp:lastModifiedBy>
  <cp:revision>2277</cp:revision>
  <dcterms:created xsi:type="dcterms:W3CDTF">2020-12-23T13:36:00Z</dcterms:created>
  <dcterms:modified xsi:type="dcterms:W3CDTF">2026-03-23T12:43:46Z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